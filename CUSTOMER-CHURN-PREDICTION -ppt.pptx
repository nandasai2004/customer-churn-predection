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169" y="7800395"/>
            <a:ext cx="1612673" cy="3051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1187" y="426410"/>
            <a:ext cx="13108025" cy="1846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1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58" y="2299207"/>
            <a:ext cx="5437505" cy="141605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dirty="0" sz="4450"/>
              <a:t>CUSTOMER</a:t>
            </a:r>
            <a:r>
              <a:rPr dirty="0" sz="4450" spc="-75"/>
              <a:t> </a:t>
            </a:r>
            <a:r>
              <a:rPr dirty="0" sz="4450" spc="-35"/>
              <a:t>CHURN </a:t>
            </a:r>
            <a:r>
              <a:rPr dirty="0" sz="4450" spc="-140"/>
              <a:t>PREDICTION</a:t>
            </a:r>
            <a:endParaRPr sz="4450"/>
          </a:p>
        </p:txBody>
      </p:sp>
      <p:sp>
        <p:nvSpPr>
          <p:cNvPr id="4" name="object 4" descr=""/>
          <p:cNvSpPr txBox="1"/>
          <p:nvPr/>
        </p:nvSpPr>
        <p:spPr>
          <a:xfrm>
            <a:off x="6267958" y="4039918"/>
            <a:ext cx="7569200" cy="11328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5"/>
              </a:spcBef>
            </a:pPr>
            <a:r>
              <a:rPr dirty="0" sz="1750" spc="155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unified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platform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prediction</a:t>
            </a:r>
            <a:r>
              <a:rPr dirty="0" sz="17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5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combining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time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machine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learning,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272424"/>
                </a:solidFill>
                <a:latin typeface="Tahoma"/>
                <a:cs typeface="Tahoma"/>
              </a:rPr>
              <a:t>series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forecasting,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 an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intuitive</a:t>
            </a:r>
            <a:r>
              <a:rPr dirty="0" sz="175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analytics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dashboard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help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you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act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customers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0">
                <a:solidFill>
                  <a:srgbClr val="272424"/>
                </a:solidFill>
                <a:latin typeface="Tahoma"/>
                <a:cs typeface="Tahoma"/>
              </a:rPr>
              <a:t>leave.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280150" y="5452490"/>
            <a:ext cx="3147060" cy="426720"/>
          </a:xfrm>
          <a:custGeom>
            <a:avLst/>
            <a:gdLst/>
            <a:ahLst/>
            <a:cxnLst/>
            <a:rect l="l" t="t" r="r" b="b"/>
            <a:pathLst>
              <a:path w="3147059" h="426720">
                <a:moveTo>
                  <a:pt x="3070732" y="0"/>
                </a:moveTo>
                <a:lnTo>
                  <a:pt x="76200" y="0"/>
                </a:lnTo>
                <a:lnTo>
                  <a:pt x="46559" y="5976"/>
                </a:lnTo>
                <a:lnTo>
                  <a:pt x="22336" y="22288"/>
                </a:lnTo>
                <a:lnTo>
                  <a:pt x="5994" y="46505"/>
                </a:lnTo>
                <a:lnTo>
                  <a:pt x="0" y="76199"/>
                </a:lnTo>
                <a:lnTo>
                  <a:pt x="0" y="350011"/>
                </a:lnTo>
                <a:lnTo>
                  <a:pt x="5994" y="379652"/>
                </a:lnTo>
                <a:lnTo>
                  <a:pt x="22336" y="403875"/>
                </a:lnTo>
                <a:lnTo>
                  <a:pt x="46559" y="420217"/>
                </a:lnTo>
                <a:lnTo>
                  <a:pt x="76200" y="426211"/>
                </a:lnTo>
                <a:lnTo>
                  <a:pt x="3070732" y="426211"/>
                </a:lnTo>
                <a:lnTo>
                  <a:pt x="3100427" y="420217"/>
                </a:lnTo>
                <a:lnTo>
                  <a:pt x="3124644" y="403875"/>
                </a:lnTo>
                <a:lnTo>
                  <a:pt x="3140956" y="379652"/>
                </a:lnTo>
                <a:lnTo>
                  <a:pt x="3146932" y="350011"/>
                </a:lnTo>
                <a:lnTo>
                  <a:pt x="3146932" y="76199"/>
                </a:lnTo>
                <a:lnTo>
                  <a:pt x="3140956" y="46505"/>
                </a:lnTo>
                <a:lnTo>
                  <a:pt x="3124644" y="22288"/>
                </a:lnTo>
                <a:lnTo>
                  <a:pt x="3100427" y="5976"/>
                </a:lnTo>
                <a:lnTo>
                  <a:pt x="3070732" y="0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404228" y="5549900"/>
            <a:ext cx="28498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5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40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40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Tahoma"/>
                <a:cs typeface="Tahoma"/>
              </a:rPr>
              <a:t>PREDICTION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540493" y="5444871"/>
            <a:ext cx="1527175" cy="441959"/>
          </a:xfrm>
          <a:custGeom>
            <a:avLst/>
            <a:gdLst/>
            <a:ahLst/>
            <a:cxnLst/>
            <a:rect l="l" t="t" r="r" b="b"/>
            <a:pathLst>
              <a:path w="1527175" h="441960">
                <a:moveTo>
                  <a:pt x="0" y="76199"/>
                </a:moveTo>
                <a:lnTo>
                  <a:pt x="5994" y="46505"/>
                </a:lnTo>
                <a:lnTo>
                  <a:pt x="22336" y="22288"/>
                </a:lnTo>
                <a:lnTo>
                  <a:pt x="46559" y="5976"/>
                </a:lnTo>
                <a:lnTo>
                  <a:pt x="76200" y="0"/>
                </a:lnTo>
                <a:lnTo>
                  <a:pt x="1450466" y="0"/>
                </a:lnTo>
                <a:lnTo>
                  <a:pt x="1480161" y="5976"/>
                </a:lnTo>
                <a:lnTo>
                  <a:pt x="1504378" y="22288"/>
                </a:lnTo>
                <a:lnTo>
                  <a:pt x="1520690" y="46505"/>
                </a:lnTo>
                <a:lnTo>
                  <a:pt x="1526666" y="76199"/>
                </a:lnTo>
                <a:lnTo>
                  <a:pt x="1526666" y="365251"/>
                </a:lnTo>
                <a:lnTo>
                  <a:pt x="1520690" y="394892"/>
                </a:lnTo>
                <a:lnTo>
                  <a:pt x="1504378" y="419115"/>
                </a:lnTo>
                <a:lnTo>
                  <a:pt x="1480161" y="435457"/>
                </a:lnTo>
                <a:lnTo>
                  <a:pt x="1450466" y="441451"/>
                </a:lnTo>
                <a:lnTo>
                  <a:pt x="76200" y="441451"/>
                </a:lnTo>
                <a:lnTo>
                  <a:pt x="46559" y="435457"/>
                </a:lnTo>
                <a:lnTo>
                  <a:pt x="22336" y="419115"/>
                </a:lnTo>
                <a:lnTo>
                  <a:pt x="5994" y="394892"/>
                </a:lnTo>
                <a:lnTo>
                  <a:pt x="0" y="365251"/>
                </a:lnTo>
                <a:lnTo>
                  <a:pt x="0" y="76199"/>
                </a:lnTo>
                <a:close/>
              </a:path>
            </a:pathLst>
          </a:custGeom>
          <a:ln w="7620">
            <a:solidFill>
              <a:srgbClr val="4850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672319" y="5549900"/>
            <a:ext cx="12522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35">
                <a:solidFill>
                  <a:srgbClr val="4850BB"/>
                </a:solidFill>
                <a:latin typeface="Tahoma"/>
                <a:cs typeface="Tahoma"/>
              </a:rPr>
              <a:t>ML-</a:t>
            </a:r>
            <a:r>
              <a:rPr dirty="0" sz="1400" spc="55">
                <a:solidFill>
                  <a:srgbClr val="4850BB"/>
                </a:solidFill>
                <a:latin typeface="Tahoma"/>
                <a:cs typeface="Tahoma"/>
              </a:rPr>
              <a:t>POWERED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67920" y="7127632"/>
            <a:ext cx="2562479" cy="1101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424673" y="5461889"/>
            <a:ext cx="7205980" cy="2767965"/>
            <a:chOff x="7424673" y="5461889"/>
            <a:chExt cx="7205980" cy="27679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67920" y="7127632"/>
              <a:ext cx="2562479" cy="110196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428483" y="5465699"/>
              <a:ext cx="6408420" cy="2048510"/>
            </a:xfrm>
            <a:custGeom>
              <a:avLst/>
              <a:gdLst/>
              <a:ahLst/>
              <a:cxnLst/>
              <a:rect l="l" t="t" r="r" b="b"/>
              <a:pathLst>
                <a:path w="6408419" h="2048509">
                  <a:moveTo>
                    <a:pt x="6312916" y="0"/>
                  </a:moveTo>
                  <a:lnTo>
                    <a:pt x="95376" y="0"/>
                  </a:lnTo>
                  <a:lnTo>
                    <a:pt x="58239" y="7489"/>
                  </a:lnTo>
                  <a:lnTo>
                    <a:pt x="27924" y="27908"/>
                  </a:lnTo>
                  <a:lnTo>
                    <a:pt x="7491" y="58185"/>
                  </a:lnTo>
                  <a:lnTo>
                    <a:pt x="0" y="95250"/>
                  </a:lnTo>
                  <a:lnTo>
                    <a:pt x="0" y="1952701"/>
                  </a:lnTo>
                  <a:lnTo>
                    <a:pt x="7491" y="1989785"/>
                  </a:lnTo>
                  <a:lnTo>
                    <a:pt x="27924" y="2020069"/>
                  </a:lnTo>
                  <a:lnTo>
                    <a:pt x="58239" y="2040488"/>
                  </a:lnTo>
                  <a:lnTo>
                    <a:pt x="95376" y="2047976"/>
                  </a:lnTo>
                  <a:lnTo>
                    <a:pt x="6312916" y="2047976"/>
                  </a:lnTo>
                  <a:lnTo>
                    <a:pt x="6349980" y="2040488"/>
                  </a:lnTo>
                  <a:lnTo>
                    <a:pt x="6380257" y="2020069"/>
                  </a:lnTo>
                  <a:lnTo>
                    <a:pt x="6400676" y="1989785"/>
                  </a:lnTo>
                  <a:lnTo>
                    <a:pt x="6408166" y="1952701"/>
                  </a:lnTo>
                  <a:lnTo>
                    <a:pt x="6408166" y="95250"/>
                  </a:lnTo>
                  <a:lnTo>
                    <a:pt x="6400676" y="58185"/>
                  </a:lnTo>
                  <a:lnTo>
                    <a:pt x="6380257" y="27908"/>
                  </a:lnTo>
                  <a:lnTo>
                    <a:pt x="6349980" y="7489"/>
                  </a:lnTo>
                  <a:lnTo>
                    <a:pt x="631291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428483" y="5465699"/>
              <a:ext cx="6408420" cy="2048510"/>
            </a:xfrm>
            <a:custGeom>
              <a:avLst/>
              <a:gdLst/>
              <a:ahLst/>
              <a:cxnLst/>
              <a:rect l="l" t="t" r="r" b="b"/>
              <a:pathLst>
                <a:path w="6408419" h="2048509">
                  <a:moveTo>
                    <a:pt x="0" y="95250"/>
                  </a:moveTo>
                  <a:lnTo>
                    <a:pt x="7491" y="58185"/>
                  </a:lnTo>
                  <a:lnTo>
                    <a:pt x="27924" y="27908"/>
                  </a:lnTo>
                  <a:lnTo>
                    <a:pt x="58239" y="7489"/>
                  </a:lnTo>
                  <a:lnTo>
                    <a:pt x="95376" y="0"/>
                  </a:lnTo>
                  <a:lnTo>
                    <a:pt x="6312916" y="0"/>
                  </a:lnTo>
                  <a:lnTo>
                    <a:pt x="6349980" y="7489"/>
                  </a:lnTo>
                  <a:lnTo>
                    <a:pt x="6380257" y="27908"/>
                  </a:lnTo>
                  <a:lnTo>
                    <a:pt x="6400676" y="58185"/>
                  </a:lnTo>
                  <a:lnTo>
                    <a:pt x="6408166" y="95250"/>
                  </a:lnTo>
                  <a:lnTo>
                    <a:pt x="6408166" y="1952701"/>
                  </a:lnTo>
                  <a:lnTo>
                    <a:pt x="6400676" y="1989785"/>
                  </a:lnTo>
                  <a:lnTo>
                    <a:pt x="6380257" y="2020069"/>
                  </a:lnTo>
                  <a:lnTo>
                    <a:pt x="6349980" y="2040488"/>
                  </a:lnTo>
                  <a:lnTo>
                    <a:pt x="6312916" y="2047976"/>
                  </a:lnTo>
                  <a:lnTo>
                    <a:pt x="95376" y="2047976"/>
                  </a:lnTo>
                  <a:lnTo>
                    <a:pt x="58239" y="2040488"/>
                  </a:lnTo>
                  <a:lnTo>
                    <a:pt x="27924" y="2020069"/>
                  </a:lnTo>
                  <a:lnTo>
                    <a:pt x="7491" y="1989785"/>
                  </a:lnTo>
                  <a:lnTo>
                    <a:pt x="0" y="1952701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1304" y="646032"/>
            <a:ext cx="4613910" cy="1174750"/>
          </a:xfrm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200" spc="-120"/>
              <a:t>What</a:t>
            </a:r>
            <a:r>
              <a:rPr dirty="0" sz="2200" spc="-45"/>
              <a:t> </a:t>
            </a:r>
            <a:r>
              <a:rPr dirty="0" sz="2200" spc="-25"/>
              <a:t>We're</a:t>
            </a:r>
            <a:r>
              <a:rPr dirty="0" sz="2200" spc="-135"/>
              <a:t> </a:t>
            </a:r>
            <a:r>
              <a:rPr dirty="0" sz="2200" spc="-10"/>
              <a:t>Building</a:t>
            </a:r>
            <a:endParaRPr sz="2200"/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4450" spc="-175"/>
              <a:t>Project</a:t>
            </a:r>
            <a:r>
              <a:rPr dirty="0" sz="4450" spc="-125"/>
              <a:t> </a:t>
            </a:r>
            <a:r>
              <a:rPr dirty="0" sz="4450" spc="-120"/>
              <a:t>Overview</a:t>
            </a:r>
            <a:endParaRPr sz="4450"/>
          </a:p>
        </p:txBody>
      </p:sp>
      <p:sp>
        <p:nvSpPr>
          <p:cNvPr id="7" name="object 7" descr=""/>
          <p:cNvSpPr txBox="1"/>
          <p:nvPr/>
        </p:nvSpPr>
        <p:spPr>
          <a:xfrm>
            <a:off x="781304" y="2149271"/>
            <a:ext cx="12376785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 sz="1750" spc="10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00">
                <a:solidFill>
                  <a:srgbClr val="272424"/>
                </a:solidFill>
                <a:latin typeface="Tahoma"/>
                <a:cs typeface="Tahoma"/>
              </a:rPr>
              <a:t>end-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to-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end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machine</a:t>
            </a:r>
            <a:r>
              <a:rPr dirty="0" sz="17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learning</a:t>
            </a:r>
            <a:r>
              <a:rPr dirty="0" sz="17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platform</a:t>
            </a:r>
            <a:r>
              <a:rPr dirty="0" sz="17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272424"/>
                </a:solidFill>
                <a:latin typeface="Tahoma"/>
                <a:cs typeface="Tahoma"/>
              </a:rPr>
              <a:t>purpose-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built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identify</a:t>
            </a:r>
            <a:r>
              <a:rPr dirty="0" sz="17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at-risk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customers,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surface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actionable</a:t>
            </a:r>
            <a:r>
              <a:rPr dirty="0" sz="17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insights,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enable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data-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driven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retention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strategies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at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scale.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89978" y="3187064"/>
            <a:ext cx="6416040" cy="2056130"/>
            <a:chOff x="789978" y="3187064"/>
            <a:chExt cx="6416040" cy="2056130"/>
          </a:xfrm>
        </p:grpSpPr>
        <p:sp>
          <p:nvSpPr>
            <p:cNvPr id="9" name="object 9" descr=""/>
            <p:cNvSpPr/>
            <p:nvPr/>
          </p:nvSpPr>
          <p:spPr>
            <a:xfrm>
              <a:off x="793788" y="3190874"/>
              <a:ext cx="6408420" cy="2048510"/>
            </a:xfrm>
            <a:custGeom>
              <a:avLst/>
              <a:gdLst/>
              <a:ahLst/>
              <a:cxnLst/>
              <a:rect l="l" t="t" r="r" b="b"/>
              <a:pathLst>
                <a:path w="6408420" h="2048510">
                  <a:moveTo>
                    <a:pt x="6312623" y="0"/>
                  </a:moveTo>
                  <a:lnTo>
                    <a:pt x="95275" y="0"/>
                  </a:lnTo>
                  <a:lnTo>
                    <a:pt x="58191" y="7489"/>
                  </a:lnTo>
                  <a:lnTo>
                    <a:pt x="27906" y="27908"/>
                  </a:lnTo>
                  <a:lnTo>
                    <a:pt x="7487" y="58185"/>
                  </a:lnTo>
                  <a:lnTo>
                    <a:pt x="0" y="95250"/>
                  </a:lnTo>
                  <a:lnTo>
                    <a:pt x="0" y="1952752"/>
                  </a:lnTo>
                  <a:lnTo>
                    <a:pt x="7487" y="1989816"/>
                  </a:lnTo>
                  <a:lnTo>
                    <a:pt x="27906" y="2020093"/>
                  </a:lnTo>
                  <a:lnTo>
                    <a:pt x="58191" y="2040512"/>
                  </a:lnTo>
                  <a:lnTo>
                    <a:pt x="95275" y="2048002"/>
                  </a:lnTo>
                  <a:lnTo>
                    <a:pt x="6312623" y="2048002"/>
                  </a:lnTo>
                  <a:lnTo>
                    <a:pt x="6349761" y="2040512"/>
                  </a:lnTo>
                  <a:lnTo>
                    <a:pt x="6380076" y="2020093"/>
                  </a:lnTo>
                  <a:lnTo>
                    <a:pt x="6400509" y="1989816"/>
                  </a:lnTo>
                  <a:lnTo>
                    <a:pt x="6408000" y="1952752"/>
                  </a:lnTo>
                  <a:lnTo>
                    <a:pt x="6408000" y="95250"/>
                  </a:lnTo>
                  <a:lnTo>
                    <a:pt x="6400509" y="58185"/>
                  </a:lnTo>
                  <a:lnTo>
                    <a:pt x="6380076" y="27908"/>
                  </a:lnTo>
                  <a:lnTo>
                    <a:pt x="6349761" y="7489"/>
                  </a:lnTo>
                  <a:lnTo>
                    <a:pt x="6312623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3788" y="3190874"/>
              <a:ext cx="6408420" cy="2048510"/>
            </a:xfrm>
            <a:custGeom>
              <a:avLst/>
              <a:gdLst/>
              <a:ahLst/>
              <a:cxnLst/>
              <a:rect l="l" t="t" r="r" b="b"/>
              <a:pathLst>
                <a:path w="6408420" h="2048510">
                  <a:moveTo>
                    <a:pt x="0" y="95250"/>
                  </a:moveTo>
                  <a:lnTo>
                    <a:pt x="7487" y="58185"/>
                  </a:lnTo>
                  <a:lnTo>
                    <a:pt x="27906" y="27908"/>
                  </a:lnTo>
                  <a:lnTo>
                    <a:pt x="58191" y="7489"/>
                  </a:lnTo>
                  <a:lnTo>
                    <a:pt x="95275" y="0"/>
                  </a:lnTo>
                  <a:lnTo>
                    <a:pt x="6312623" y="0"/>
                  </a:lnTo>
                  <a:lnTo>
                    <a:pt x="6349761" y="7489"/>
                  </a:lnTo>
                  <a:lnTo>
                    <a:pt x="6380076" y="27908"/>
                  </a:lnTo>
                  <a:lnTo>
                    <a:pt x="6400509" y="58185"/>
                  </a:lnTo>
                  <a:lnTo>
                    <a:pt x="6408000" y="95250"/>
                  </a:lnTo>
                  <a:lnTo>
                    <a:pt x="6408000" y="1952752"/>
                  </a:lnTo>
                  <a:lnTo>
                    <a:pt x="6400509" y="1989816"/>
                  </a:lnTo>
                  <a:lnTo>
                    <a:pt x="6380076" y="2020093"/>
                  </a:lnTo>
                  <a:lnTo>
                    <a:pt x="6349761" y="2040512"/>
                  </a:lnTo>
                  <a:lnTo>
                    <a:pt x="6312623" y="2048002"/>
                  </a:lnTo>
                  <a:lnTo>
                    <a:pt x="95275" y="2048002"/>
                  </a:lnTo>
                  <a:lnTo>
                    <a:pt x="58191" y="2040512"/>
                  </a:lnTo>
                  <a:lnTo>
                    <a:pt x="27906" y="2020093"/>
                  </a:lnTo>
                  <a:lnTo>
                    <a:pt x="7487" y="1989816"/>
                  </a:lnTo>
                  <a:lnTo>
                    <a:pt x="0" y="1952752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015695" y="3401060"/>
            <a:ext cx="5381625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200" spc="-70" b="1">
                <a:solidFill>
                  <a:srgbClr val="272424"/>
                </a:solidFill>
                <a:latin typeface="Tahoma"/>
                <a:cs typeface="Tahoma"/>
              </a:rPr>
              <a:t>Predict</a:t>
            </a:r>
            <a:r>
              <a:rPr dirty="0" sz="220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65" b="1">
                <a:solidFill>
                  <a:srgbClr val="272424"/>
                </a:solidFill>
                <a:latin typeface="Tahoma"/>
                <a:cs typeface="Tahoma"/>
              </a:rPr>
              <a:t>Churn </a:t>
            </a:r>
            <a:r>
              <a:rPr dirty="0" sz="2200" spc="-20" b="1">
                <a:solidFill>
                  <a:srgbClr val="272424"/>
                </a:solidFill>
                <a:latin typeface="Tahoma"/>
                <a:cs typeface="Tahoma"/>
              </a:rPr>
              <a:t>Early</a:t>
            </a:r>
            <a:endParaRPr sz="2200">
              <a:latin typeface="Tahoma"/>
              <a:cs typeface="Tahoma"/>
            </a:endParaRPr>
          </a:p>
          <a:p>
            <a:pPr algn="just" marL="12700" marR="5080">
              <a:lnSpc>
                <a:spcPct val="138300"/>
              </a:lnSpc>
              <a:spcBef>
                <a:spcPts val="940"/>
              </a:spcBef>
            </a:pP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Identify</a:t>
            </a:r>
            <a:r>
              <a:rPr dirty="0" sz="17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at-risk</a:t>
            </a:r>
            <a:r>
              <a:rPr dirty="0" sz="17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272424"/>
                </a:solidFill>
                <a:latin typeface="Tahoma"/>
                <a:cs typeface="Tahoma"/>
              </a:rPr>
              <a:t>customers</a:t>
            </a:r>
            <a:r>
              <a:rPr dirty="0" sz="17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05">
                <a:solidFill>
                  <a:srgbClr val="272424"/>
                </a:solidFill>
                <a:latin typeface="Tahoma"/>
                <a:cs typeface="Tahoma"/>
              </a:rPr>
              <a:t>weeks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7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they</a:t>
            </a:r>
            <a:r>
              <a:rPr dirty="0" sz="17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leave using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advanced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60">
                <a:solidFill>
                  <a:srgbClr val="272424"/>
                </a:solidFill>
                <a:latin typeface="Tahoma"/>
                <a:cs typeface="Tahoma"/>
              </a:rPr>
              <a:t>ML</a:t>
            </a:r>
            <a:r>
              <a:rPr dirty="0" sz="17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models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trained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behavioural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signals.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424673" y="3187064"/>
            <a:ext cx="6416040" cy="2056130"/>
            <a:chOff x="7424673" y="3187064"/>
            <a:chExt cx="6416040" cy="2056130"/>
          </a:xfrm>
        </p:grpSpPr>
        <p:sp>
          <p:nvSpPr>
            <p:cNvPr id="13" name="object 13" descr=""/>
            <p:cNvSpPr/>
            <p:nvPr/>
          </p:nvSpPr>
          <p:spPr>
            <a:xfrm>
              <a:off x="7428483" y="3190874"/>
              <a:ext cx="6408420" cy="2048510"/>
            </a:xfrm>
            <a:custGeom>
              <a:avLst/>
              <a:gdLst/>
              <a:ahLst/>
              <a:cxnLst/>
              <a:rect l="l" t="t" r="r" b="b"/>
              <a:pathLst>
                <a:path w="6408419" h="2048510">
                  <a:moveTo>
                    <a:pt x="6312916" y="0"/>
                  </a:moveTo>
                  <a:lnTo>
                    <a:pt x="95376" y="0"/>
                  </a:lnTo>
                  <a:lnTo>
                    <a:pt x="58239" y="7489"/>
                  </a:lnTo>
                  <a:lnTo>
                    <a:pt x="27924" y="27908"/>
                  </a:lnTo>
                  <a:lnTo>
                    <a:pt x="7491" y="58185"/>
                  </a:lnTo>
                  <a:lnTo>
                    <a:pt x="0" y="95250"/>
                  </a:lnTo>
                  <a:lnTo>
                    <a:pt x="0" y="1952752"/>
                  </a:lnTo>
                  <a:lnTo>
                    <a:pt x="7491" y="1989816"/>
                  </a:lnTo>
                  <a:lnTo>
                    <a:pt x="27924" y="2020093"/>
                  </a:lnTo>
                  <a:lnTo>
                    <a:pt x="58239" y="2040512"/>
                  </a:lnTo>
                  <a:lnTo>
                    <a:pt x="95376" y="2048002"/>
                  </a:lnTo>
                  <a:lnTo>
                    <a:pt x="6312916" y="2048002"/>
                  </a:lnTo>
                  <a:lnTo>
                    <a:pt x="6349980" y="2040512"/>
                  </a:lnTo>
                  <a:lnTo>
                    <a:pt x="6380257" y="2020093"/>
                  </a:lnTo>
                  <a:lnTo>
                    <a:pt x="6400676" y="1989816"/>
                  </a:lnTo>
                  <a:lnTo>
                    <a:pt x="6408166" y="1952752"/>
                  </a:lnTo>
                  <a:lnTo>
                    <a:pt x="6408166" y="95250"/>
                  </a:lnTo>
                  <a:lnTo>
                    <a:pt x="6400676" y="58185"/>
                  </a:lnTo>
                  <a:lnTo>
                    <a:pt x="6380257" y="27908"/>
                  </a:lnTo>
                  <a:lnTo>
                    <a:pt x="6349980" y="7489"/>
                  </a:lnTo>
                  <a:lnTo>
                    <a:pt x="6312916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428483" y="3190874"/>
              <a:ext cx="6408420" cy="2048510"/>
            </a:xfrm>
            <a:custGeom>
              <a:avLst/>
              <a:gdLst/>
              <a:ahLst/>
              <a:cxnLst/>
              <a:rect l="l" t="t" r="r" b="b"/>
              <a:pathLst>
                <a:path w="6408419" h="2048510">
                  <a:moveTo>
                    <a:pt x="0" y="95250"/>
                  </a:moveTo>
                  <a:lnTo>
                    <a:pt x="7491" y="58185"/>
                  </a:lnTo>
                  <a:lnTo>
                    <a:pt x="27924" y="27908"/>
                  </a:lnTo>
                  <a:lnTo>
                    <a:pt x="58239" y="7489"/>
                  </a:lnTo>
                  <a:lnTo>
                    <a:pt x="95376" y="0"/>
                  </a:lnTo>
                  <a:lnTo>
                    <a:pt x="6312916" y="0"/>
                  </a:lnTo>
                  <a:lnTo>
                    <a:pt x="6349980" y="7489"/>
                  </a:lnTo>
                  <a:lnTo>
                    <a:pt x="6380257" y="27908"/>
                  </a:lnTo>
                  <a:lnTo>
                    <a:pt x="6400676" y="58185"/>
                  </a:lnTo>
                  <a:lnTo>
                    <a:pt x="6408166" y="95250"/>
                  </a:lnTo>
                  <a:lnTo>
                    <a:pt x="6408166" y="1952752"/>
                  </a:lnTo>
                  <a:lnTo>
                    <a:pt x="6400676" y="1989816"/>
                  </a:lnTo>
                  <a:lnTo>
                    <a:pt x="6380257" y="2020093"/>
                  </a:lnTo>
                  <a:lnTo>
                    <a:pt x="6349980" y="2040512"/>
                  </a:lnTo>
                  <a:lnTo>
                    <a:pt x="6312916" y="2048002"/>
                  </a:lnTo>
                  <a:lnTo>
                    <a:pt x="95376" y="2048002"/>
                  </a:lnTo>
                  <a:lnTo>
                    <a:pt x="58239" y="2040512"/>
                  </a:lnTo>
                  <a:lnTo>
                    <a:pt x="27924" y="2020093"/>
                  </a:lnTo>
                  <a:lnTo>
                    <a:pt x="7491" y="1989816"/>
                  </a:lnTo>
                  <a:lnTo>
                    <a:pt x="0" y="1952752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650860" y="3401060"/>
            <a:ext cx="5535930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80" b="1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dirty="0" sz="2200" spc="-65" b="1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dirty="0" sz="220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272424"/>
                </a:solidFill>
                <a:latin typeface="Tahoma"/>
                <a:cs typeface="Tahoma"/>
              </a:rPr>
              <a:t>Scoring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dirty="0" sz="1750" spc="120">
                <a:solidFill>
                  <a:srgbClr val="272424"/>
                </a:solidFill>
                <a:latin typeface="Tahoma"/>
                <a:cs typeface="Tahoma"/>
              </a:rPr>
              <a:t>Low-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latency</a:t>
            </a:r>
            <a:r>
              <a:rPr dirty="0" sz="17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REST</a:t>
            </a:r>
            <a:r>
              <a:rPr dirty="0" sz="17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API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delivers</a:t>
            </a:r>
            <a:r>
              <a:rPr dirty="0" sz="17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live</a:t>
            </a:r>
            <a:r>
              <a:rPr dirty="0" sz="17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0">
                <a:solidFill>
                  <a:srgbClr val="272424"/>
                </a:solidFill>
                <a:latin typeface="Tahoma"/>
                <a:cs typeface="Tahoma"/>
              </a:rPr>
              <a:t>probability </a:t>
            </a:r>
            <a:r>
              <a:rPr dirty="0" sz="1750" spc="110">
                <a:solidFill>
                  <a:srgbClr val="272424"/>
                </a:solidFill>
                <a:latin typeface="Tahoma"/>
                <a:cs typeface="Tahoma"/>
              </a:rPr>
              <a:t>scores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that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integrate</a:t>
            </a:r>
            <a:r>
              <a:rPr dirty="0" sz="175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seamlessly</a:t>
            </a:r>
            <a:r>
              <a:rPr dirty="0" sz="1750" spc="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existing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workflows.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89978" y="5461889"/>
            <a:ext cx="6416040" cy="2056130"/>
            <a:chOff x="789978" y="5461889"/>
            <a:chExt cx="6416040" cy="2056130"/>
          </a:xfrm>
        </p:grpSpPr>
        <p:sp>
          <p:nvSpPr>
            <p:cNvPr id="17" name="object 17" descr=""/>
            <p:cNvSpPr/>
            <p:nvPr/>
          </p:nvSpPr>
          <p:spPr>
            <a:xfrm>
              <a:off x="793788" y="5465699"/>
              <a:ext cx="6408420" cy="2048510"/>
            </a:xfrm>
            <a:custGeom>
              <a:avLst/>
              <a:gdLst/>
              <a:ahLst/>
              <a:cxnLst/>
              <a:rect l="l" t="t" r="r" b="b"/>
              <a:pathLst>
                <a:path w="6408420" h="2048509">
                  <a:moveTo>
                    <a:pt x="6312623" y="0"/>
                  </a:moveTo>
                  <a:lnTo>
                    <a:pt x="95275" y="0"/>
                  </a:lnTo>
                  <a:lnTo>
                    <a:pt x="58191" y="7489"/>
                  </a:lnTo>
                  <a:lnTo>
                    <a:pt x="27906" y="27908"/>
                  </a:lnTo>
                  <a:lnTo>
                    <a:pt x="7487" y="58185"/>
                  </a:lnTo>
                  <a:lnTo>
                    <a:pt x="0" y="95250"/>
                  </a:lnTo>
                  <a:lnTo>
                    <a:pt x="0" y="1952701"/>
                  </a:lnTo>
                  <a:lnTo>
                    <a:pt x="7487" y="1989785"/>
                  </a:lnTo>
                  <a:lnTo>
                    <a:pt x="27906" y="2020069"/>
                  </a:lnTo>
                  <a:lnTo>
                    <a:pt x="58191" y="2040488"/>
                  </a:lnTo>
                  <a:lnTo>
                    <a:pt x="95275" y="2047976"/>
                  </a:lnTo>
                  <a:lnTo>
                    <a:pt x="6312623" y="2047976"/>
                  </a:lnTo>
                  <a:lnTo>
                    <a:pt x="6349761" y="2040488"/>
                  </a:lnTo>
                  <a:lnTo>
                    <a:pt x="6380076" y="2020069"/>
                  </a:lnTo>
                  <a:lnTo>
                    <a:pt x="6400509" y="1989785"/>
                  </a:lnTo>
                  <a:lnTo>
                    <a:pt x="6408000" y="1952701"/>
                  </a:lnTo>
                  <a:lnTo>
                    <a:pt x="6408000" y="95250"/>
                  </a:lnTo>
                  <a:lnTo>
                    <a:pt x="6400509" y="58185"/>
                  </a:lnTo>
                  <a:lnTo>
                    <a:pt x="6380076" y="27908"/>
                  </a:lnTo>
                  <a:lnTo>
                    <a:pt x="6349761" y="7489"/>
                  </a:lnTo>
                  <a:lnTo>
                    <a:pt x="6312623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3788" y="5465699"/>
              <a:ext cx="6408420" cy="2048510"/>
            </a:xfrm>
            <a:custGeom>
              <a:avLst/>
              <a:gdLst/>
              <a:ahLst/>
              <a:cxnLst/>
              <a:rect l="l" t="t" r="r" b="b"/>
              <a:pathLst>
                <a:path w="6408420" h="2048509">
                  <a:moveTo>
                    <a:pt x="0" y="95250"/>
                  </a:moveTo>
                  <a:lnTo>
                    <a:pt x="7487" y="58185"/>
                  </a:lnTo>
                  <a:lnTo>
                    <a:pt x="27906" y="27908"/>
                  </a:lnTo>
                  <a:lnTo>
                    <a:pt x="58191" y="7489"/>
                  </a:lnTo>
                  <a:lnTo>
                    <a:pt x="95275" y="0"/>
                  </a:lnTo>
                  <a:lnTo>
                    <a:pt x="6312623" y="0"/>
                  </a:lnTo>
                  <a:lnTo>
                    <a:pt x="6349761" y="7489"/>
                  </a:lnTo>
                  <a:lnTo>
                    <a:pt x="6380076" y="27908"/>
                  </a:lnTo>
                  <a:lnTo>
                    <a:pt x="6400509" y="58185"/>
                  </a:lnTo>
                  <a:lnTo>
                    <a:pt x="6408000" y="95250"/>
                  </a:lnTo>
                  <a:lnTo>
                    <a:pt x="6408000" y="1952701"/>
                  </a:lnTo>
                  <a:lnTo>
                    <a:pt x="6400509" y="1989785"/>
                  </a:lnTo>
                  <a:lnTo>
                    <a:pt x="6380076" y="2020069"/>
                  </a:lnTo>
                  <a:lnTo>
                    <a:pt x="6349761" y="2040488"/>
                  </a:lnTo>
                  <a:lnTo>
                    <a:pt x="6312623" y="2047976"/>
                  </a:lnTo>
                  <a:lnTo>
                    <a:pt x="95275" y="2047976"/>
                  </a:lnTo>
                  <a:lnTo>
                    <a:pt x="58191" y="2040488"/>
                  </a:lnTo>
                  <a:lnTo>
                    <a:pt x="27906" y="2020069"/>
                  </a:lnTo>
                  <a:lnTo>
                    <a:pt x="7487" y="1989785"/>
                  </a:lnTo>
                  <a:lnTo>
                    <a:pt x="0" y="1952701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015695" y="5676391"/>
            <a:ext cx="5760720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65" b="1">
                <a:solidFill>
                  <a:srgbClr val="272424"/>
                </a:solidFill>
                <a:latin typeface="Tahoma"/>
                <a:cs typeface="Tahoma"/>
              </a:rPr>
              <a:t>Actionable</a:t>
            </a:r>
            <a:r>
              <a:rPr dirty="0" sz="2200" spc="-8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272424"/>
                </a:solidFill>
                <a:latin typeface="Tahoma"/>
                <a:cs typeface="Tahoma"/>
              </a:rPr>
              <a:t>Dashboards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Interactive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visualisations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272424"/>
                </a:solidFill>
                <a:latin typeface="Tahoma"/>
                <a:cs typeface="Tahoma"/>
              </a:rPr>
              <a:t>surface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trends,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feature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importance,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retention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opportunities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every </a:t>
            </a:r>
            <a:r>
              <a:rPr dirty="0" sz="1750" spc="40">
                <a:solidFill>
                  <a:srgbClr val="272424"/>
                </a:solidFill>
                <a:latin typeface="Tahoma"/>
                <a:cs typeface="Tahoma"/>
              </a:rPr>
              <a:t>stakeholder.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650860" y="5676391"/>
            <a:ext cx="5948680" cy="158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30" b="1">
                <a:solidFill>
                  <a:srgbClr val="272424"/>
                </a:solidFill>
                <a:latin typeface="Tahoma"/>
                <a:cs typeface="Tahoma"/>
              </a:rPr>
              <a:t>Model</a:t>
            </a:r>
            <a:r>
              <a:rPr dirty="0" sz="2200" spc="-10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20" b="1">
                <a:solidFill>
                  <a:srgbClr val="272424"/>
                </a:solidFill>
                <a:latin typeface="Tahoma"/>
                <a:cs typeface="Tahoma"/>
              </a:rPr>
              <a:t>Lifecycle</a:t>
            </a:r>
            <a:r>
              <a:rPr dirty="0" sz="2200" spc="-1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Version,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monitor,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retrain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models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continuously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ensure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predictions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stay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accurate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05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behaviour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evolves.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7920" y="7127632"/>
            <a:ext cx="2562479" cy="110196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79905" y="469773"/>
            <a:ext cx="241744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5" b="1">
                <a:latin typeface="Tahoma"/>
                <a:cs typeface="Tahoma"/>
              </a:rPr>
              <a:t>How</a:t>
            </a:r>
            <a:r>
              <a:rPr dirty="0" sz="1700" spc="-70" b="1">
                <a:latin typeface="Tahoma"/>
                <a:cs typeface="Tahoma"/>
              </a:rPr>
              <a:t> </a:t>
            </a:r>
            <a:r>
              <a:rPr dirty="0" sz="1700" spc="-265" b="1">
                <a:latin typeface="Tahoma"/>
                <a:cs typeface="Tahoma"/>
              </a:rPr>
              <a:t>It</a:t>
            </a:r>
            <a:r>
              <a:rPr dirty="0" sz="1700" spc="-25" b="1">
                <a:latin typeface="Tahoma"/>
                <a:cs typeface="Tahoma"/>
              </a:rPr>
              <a:t> </a:t>
            </a:r>
            <a:r>
              <a:rPr dirty="0" sz="1700" spc="-55" b="1">
                <a:latin typeface="Tahoma"/>
                <a:cs typeface="Tahoma"/>
              </a:rPr>
              <a:t>All Fits</a:t>
            </a:r>
            <a:r>
              <a:rPr dirty="0" sz="1700" spc="-60" b="1">
                <a:latin typeface="Tahoma"/>
                <a:cs typeface="Tahoma"/>
              </a:rPr>
              <a:t> </a:t>
            </a:r>
            <a:r>
              <a:rPr dirty="0" sz="1700" spc="-35" b="1">
                <a:latin typeface="Tahoma"/>
                <a:cs typeface="Tahoma"/>
              </a:rPr>
              <a:t>Together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79905" y="791413"/>
            <a:ext cx="4192904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-100"/>
              <a:t>System</a:t>
            </a:r>
            <a:r>
              <a:rPr dirty="0" sz="3400" spc="-120"/>
              <a:t> </a:t>
            </a:r>
            <a:r>
              <a:rPr dirty="0" sz="3400" spc="-95"/>
              <a:t>Architecture</a:t>
            </a:r>
            <a:endParaRPr sz="3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1487" y="2056762"/>
            <a:ext cx="5436124" cy="480728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104246" y="2144388"/>
            <a:ext cx="2736850" cy="106934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050" spc="-75" b="1">
                <a:solidFill>
                  <a:srgbClr val="272424"/>
                </a:solidFill>
                <a:latin typeface="Tahoma"/>
                <a:cs typeface="Tahoma"/>
              </a:rPr>
              <a:t>Frontend </a:t>
            </a:r>
            <a:r>
              <a:rPr dirty="0" sz="2050" spc="-10" b="1">
                <a:solidFill>
                  <a:srgbClr val="272424"/>
                </a:solidFill>
                <a:latin typeface="Tahoma"/>
                <a:cs typeface="Tahoma"/>
              </a:rPr>
              <a:t>Dashboard</a:t>
            </a:r>
            <a:endParaRPr sz="2050">
              <a:latin typeface="Tahoma"/>
              <a:cs typeface="Tahoma"/>
            </a:endParaRPr>
          </a:p>
          <a:p>
            <a:pPr marL="12700" marR="5080">
              <a:lnSpc>
                <a:spcPts val="1870"/>
              </a:lnSpc>
              <a:spcBef>
                <a:spcPts val="1005"/>
              </a:spcBef>
            </a:pPr>
            <a:r>
              <a:rPr dirty="0" sz="1650" spc="65">
                <a:solidFill>
                  <a:srgbClr val="272424"/>
                </a:solidFill>
                <a:latin typeface="Tahoma"/>
                <a:cs typeface="Tahoma"/>
              </a:rPr>
              <a:t>React</a:t>
            </a:r>
            <a:r>
              <a:rPr dirty="0" sz="16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272424"/>
                </a:solidFill>
                <a:latin typeface="Tahoma"/>
                <a:cs typeface="Tahoma"/>
              </a:rPr>
              <a:t>UI</a:t>
            </a:r>
            <a:r>
              <a:rPr dirty="0" sz="16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6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272424"/>
                </a:solidFill>
                <a:latin typeface="Tahoma"/>
                <a:cs typeface="Tahoma"/>
              </a:rPr>
              <a:t>charts,</a:t>
            </a:r>
            <a:r>
              <a:rPr dirty="0" sz="16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Tahoma"/>
                <a:cs typeface="Tahoma"/>
              </a:rPr>
              <a:t>alerts, </a:t>
            </a:r>
            <a:r>
              <a:rPr dirty="0" sz="1650" spc="60">
                <a:solidFill>
                  <a:srgbClr val="272424"/>
                </a:solidFill>
                <a:latin typeface="Tahoma"/>
                <a:cs typeface="Tahoma"/>
              </a:rPr>
              <a:t>stakeholder</a:t>
            </a:r>
            <a:r>
              <a:rPr dirty="0" sz="16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272424"/>
                </a:solidFill>
                <a:latin typeface="Tahoma"/>
                <a:cs typeface="Tahoma"/>
              </a:rPr>
              <a:t>views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17623" y="3956521"/>
            <a:ext cx="2470785" cy="106934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47625" indent="1227455">
              <a:lnSpc>
                <a:spcPct val="100000"/>
              </a:lnSpc>
              <a:spcBef>
                <a:spcPts val="1150"/>
              </a:spcBef>
            </a:pPr>
            <a:r>
              <a:rPr dirty="0" sz="2050" spc="-160" b="1">
                <a:solidFill>
                  <a:srgbClr val="272424"/>
                </a:solidFill>
                <a:latin typeface="Tahoma"/>
                <a:cs typeface="Tahoma"/>
              </a:rPr>
              <a:t>API</a:t>
            </a:r>
            <a:r>
              <a:rPr dirty="0" sz="2050" spc="-35" b="1">
                <a:solidFill>
                  <a:srgbClr val="272424"/>
                </a:solidFill>
                <a:latin typeface="Tahoma"/>
                <a:cs typeface="Tahoma"/>
              </a:rPr>
              <a:t> Layer</a:t>
            </a:r>
            <a:endParaRPr sz="2050">
              <a:latin typeface="Tahoma"/>
              <a:cs typeface="Tahoma"/>
            </a:endParaRPr>
          </a:p>
          <a:p>
            <a:pPr marL="12700" marR="5080" indent="34925">
              <a:lnSpc>
                <a:spcPts val="1870"/>
              </a:lnSpc>
              <a:spcBef>
                <a:spcPts val="1010"/>
              </a:spcBef>
            </a:pPr>
            <a:r>
              <a:rPr dirty="0" sz="1650" spc="50">
                <a:solidFill>
                  <a:srgbClr val="272424"/>
                </a:solidFill>
                <a:latin typeface="Tahoma"/>
                <a:cs typeface="Tahoma"/>
              </a:rPr>
              <a:t>FastAPI</a:t>
            </a:r>
            <a:r>
              <a:rPr dirty="0" sz="16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50">
                <a:solidFill>
                  <a:srgbClr val="272424"/>
                </a:solidFill>
                <a:latin typeface="Tahoma"/>
                <a:cs typeface="Tahoma"/>
              </a:rPr>
              <a:t>endpoints,</a:t>
            </a:r>
            <a:r>
              <a:rPr dirty="0" sz="16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Tahoma"/>
                <a:cs typeface="Tahoma"/>
              </a:rPr>
              <a:t>auth, </a:t>
            </a:r>
            <a:r>
              <a:rPr dirty="0" sz="1650">
                <a:solidFill>
                  <a:srgbClr val="272424"/>
                </a:solidFill>
                <a:latin typeface="Tahoma"/>
                <a:cs typeface="Tahoma"/>
              </a:rPr>
              <a:t>rate</a:t>
            </a:r>
            <a:r>
              <a:rPr dirty="0" sz="165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272424"/>
                </a:solidFill>
                <a:latin typeface="Tahoma"/>
                <a:cs typeface="Tahoma"/>
              </a:rPr>
              <a:t>limiting,</a:t>
            </a:r>
            <a:r>
              <a:rPr dirty="0" sz="165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35">
                <a:solidFill>
                  <a:srgbClr val="272424"/>
                </a:solidFill>
                <a:latin typeface="Tahoma"/>
                <a:cs typeface="Tahoma"/>
              </a:rPr>
              <a:t>integrations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104246" y="4774274"/>
            <a:ext cx="2273300" cy="131064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050" b="1">
                <a:solidFill>
                  <a:srgbClr val="272424"/>
                </a:solidFill>
                <a:latin typeface="Tahoma"/>
                <a:cs typeface="Tahoma"/>
              </a:rPr>
              <a:t>ML</a:t>
            </a:r>
            <a:r>
              <a:rPr dirty="0" sz="205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272424"/>
                </a:solidFill>
                <a:latin typeface="Tahoma"/>
                <a:cs typeface="Tahoma"/>
              </a:rPr>
              <a:t>Pipeline</a:t>
            </a:r>
            <a:endParaRPr sz="2050">
              <a:latin typeface="Tahoma"/>
              <a:cs typeface="Tahoma"/>
            </a:endParaRPr>
          </a:p>
          <a:p>
            <a:pPr marL="12700" marR="5080">
              <a:lnSpc>
                <a:spcPct val="95200"/>
              </a:lnSpc>
              <a:spcBef>
                <a:spcPts val="950"/>
              </a:spcBef>
            </a:pPr>
            <a:r>
              <a:rPr dirty="0" sz="1650" spc="1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650" spc="1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10">
                <a:solidFill>
                  <a:srgbClr val="272424"/>
                </a:solidFill>
                <a:latin typeface="Tahoma"/>
                <a:cs typeface="Tahoma"/>
              </a:rPr>
              <a:t>ingestion,</a:t>
            </a:r>
            <a:r>
              <a:rPr dirty="0" sz="1650" spc="17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40">
                <a:solidFill>
                  <a:srgbClr val="272424"/>
                </a:solidFill>
                <a:latin typeface="Tahoma"/>
                <a:cs typeface="Tahoma"/>
              </a:rPr>
              <a:t>feature </a:t>
            </a:r>
            <a:r>
              <a:rPr dirty="0" sz="1650" spc="50">
                <a:solidFill>
                  <a:srgbClr val="272424"/>
                </a:solidFill>
                <a:latin typeface="Tahoma"/>
                <a:cs typeface="Tahoma"/>
              </a:rPr>
              <a:t>engineering,</a:t>
            </a:r>
            <a:r>
              <a:rPr dirty="0" sz="16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272424"/>
                </a:solidFill>
                <a:latin typeface="Tahoma"/>
                <a:cs typeface="Tahoma"/>
              </a:rPr>
              <a:t>model </a:t>
            </a:r>
            <a:r>
              <a:rPr dirty="0" sz="1650" spc="60">
                <a:solidFill>
                  <a:srgbClr val="272424"/>
                </a:solidFill>
                <a:latin typeface="Tahoma"/>
                <a:cs typeface="Tahoma"/>
              </a:rPr>
              <a:t>inference,</a:t>
            </a:r>
            <a:r>
              <a:rPr dirty="0" sz="16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Tahoma"/>
                <a:cs typeface="Tahoma"/>
              </a:rPr>
              <a:t>retraining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79905" y="7200086"/>
            <a:ext cx="11901805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platform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follows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clean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three-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tier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architecture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a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responsive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frontend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stakeholders,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high-performance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API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layer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integrations,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a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robust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30">
                <a:solidFill>
                  <a:srgbClr val="272424"/>
                </a:solidFill>
                <a:latin typeface="Tahoma"/>
                <a:cs typeface="Tahoma"/>
              </a:rPr>
              <a:t>ML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pipeline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continuous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model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training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inference.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Each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layer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72424"/>
                </a:solidFill>
                <a:latin typeface="Tahoma"/>
                <a:cs typeface="Tahoma"/>
              </a:rPr>
              <a:t>scales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independently.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0785" rIns="0" bIns="0" rtlCol="0" vert="horz">
            <a:spAutoFit/>
          </a:bodyPr>
          <a:lstStyle/>
          <a:p>
            <a:pPr marL="5519420">
              <a:lnSpc>
                <a:spcPct val="100000"/>
              </a:lnSpc>
              <a:spcBef>
                <a:spcPts val="100"/>
              </a:spcBef>
            </a:pPr>
            <a:r>
              <a:rPr dirty="0" sz="4450" spc="-65"/>
              <a:t>Technology</a:t>
            </a:r>
            <a:r>
              <a:rPr dirty="0" sz="4450" spc="-260"/>
              <a:t> </a:t>
            </a:r>
            <a:r>
              <a:rPr dirty="0" sz="4450" spc="-70"/>
              <a:t>Stack</a:t>
            </a:r>
            <a:endParaRPr sz="4450"/>
          </a:p>
        </p:txBody>
      </p:sp>
      <p:grpSp>
        <p:nvGrpSpPr>
          <p:cNvPr id="4" name="object 4" descr=""/>
          <p:cNvGrpSpPr/>
          <p:nvPr/>
        </p:nvGrpSpPr>
        <p:grpSpPr>
          <a:xfrm>
            <a:off x="6249670" y="2507614"/>
            <a:ext cx="3547745" cy="2214880"/>
            <a:chOff x="6249670" y="2507614"/>
            <a:chExt cx="3547745" cy="2214880"/>
          </a:xfrm>
        </p:grpSpPr>
        <p:sp>
          <p:nvSpPr>
            <p:cNvPr id="5" name="object 5" descr=""/>
            <p:cNvSpPr/>
            <p:nvPr/>
          </p:nvSpPr>
          <p:spPr>
            <a:xfrm>
              <a:off x="6280150" y="2522854"/>
              <a:ext cx="3502025" cy="2184400"/>
            </a:xfrm>
            <a:custGeom>
              <a:avLst/>
              <a:gdLst/>
              <a:ahLst/>
              <a:cxnLst/>
              <a:rect l="l" t="t" r="r" b="b"/>
              <a:pathLst>
                <a:path w="3502025" h="2184400">
                  <a:moveTo>
                    <a:pt x="0" y="146304"/>
                  </a:moveTo>
                  <a:lnTo>
                    <a:pt x="7461" y="100023"/>
                  </a:lnTo>
                  <a:lnTo>
                    <a:pt x="28236" y="59856"/>
                  </a:lnTo>
                  <a:lnTo>
                    <a:pt x="59911" y="28200"/>
                  </a:lnTo>
                  <a:lnTo>
                    <a:pt x="100071" y="7449"/>
                  </a:lnTo>
                  <a:lnTo>
                    <a:pt x="146303" y="0"/>
                  </a:lnTo>
                  <a:lnTo>
                    <a:pt x="3355213" y="0"/>
                  </a:lnTo>
                  <a:lnTo>
                    <a:pt x="3401445" y="7449"/>
                  </a:lnTo>
                  <a:lnTo>
                    <a:pt x="3441605" y="28200"/>
                  </a:lnTo>
                  <a:lnTo>
                    <a:pt x="3473280" y="59856"/>
                  </a:lnTo>
                  <a:lnTo>
                    <a:pt x="3494055" y="100023"/>
                  </a:lnTo>
                  <a:lnTo>
                    <a:pt x="3501517" y="146304"/>
                  </a:lnTo>
                  <a:lnTo>
                    <a:pt x="3501517" y="2038096"/>
                  </a:lnTo>
                  <a:lnTo>
                    <a:pt x="3494055" y="2084328"/>
                  </a:lnTo>
                  <a:lnTo>
                    <a:pt x="3473280" y="2124488"/>
                  </a:lnTo>
                  <a:lnTo>
                    <a:pt x="3441605" y="2156163"/>
                  </a:lnTo>
                  <a:lnTo>
                    <a:pt x="3401445" y="2176938"/>
                  </a:lnTo>
                  <a:lnTo>
                    <a:pt x="3355213" y="2184400"/>
                  </a:lnTo>
                  <a:lnTo>
                    <a:pt x="146303" y="2184400"/>
                  </a:lnTo>
                  <a:lnTo>
                    <a:pt x="100071" y="2176938"/>
                  </a:lnTo>
                  <a:lnTo>
                    <a:pt x="59911" y="2156163"/>
                  </a:lnTo>
                  <a:lnTo>
                    <a:pt x="28236" y="2124488"/>
                  </a:lnTo>
                  <a:lnTo>
                    <a:pt x="7461" y="2084328"/>
                  </a:lnTo>
                  <a:lnTo>
                    <a:pt x="0" y="2038096"/>
                  </a:lnTo>
                  <a:lnTo>
                    <a:pt x="0" y="146304"/>
                  </a:lnTo>
                  <a:close/>
                </a:path>
              </a:pathLst>
            </a:custGeom>
            <a:ln w="3048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49670" y="2522854"/>
              <a:ext cx="121920" cy="2184400"/>
            </a:xfrm>
            <a:custGeom>
              <a:avLst/>
              <a:gdLst/>
              <a:ahLst/>
              <a:cxnLst/>
              <a:rect l="l" t="t" r="r" b="b"/>
              <a:pathLst>
                <a:path w="121920" h="2184400">
                  <a:moveTo>
                    <a:pt x="60959" y="0"/>
                  </a:move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60"/>
                  </a:lnTo>
                  <a:lnTo>
                    <a:pt x="0" y="2123440"/>
                  </a:lnTo>
                  <a:lnTo>
                    <a:pt x="4792" y="2147163"/>
                  </a:lnTo>
                  <a:lnTo>
                    <a:pt x="17859" y="2166540"/>
                  </a:lnTo>
                  <a:lnTo>
                    <a:pt x="37236" y="2179607"/>
                  </a:lnTo>
                  <a:lnTo>
                    <a:pt x="60959" y="2184400"/>
                  </a:lnTo>
                  <a:lnTo>
                    <a:pt x="84683" y="2179607"/>
                  </a:lnTo>
                  <a:lnTo>
                    <a:pt x="104060" y="2166540"/>
                  </a:lnTo>
                  <a:lnTo>
                    <a:pt x="117127" y="2147163"/>
                  </a:lnTo>
                  <a:lnTo>
                    <a:pt x="121919" y="2123440"/>
                  </a:lnTo>
                  <a:lnTo>
                    <a:pt x="121919" y="60960"/>
                  </a:lnTo>
                  <a:lnTo>
                    <a:pt x="117127" y="37236"/>
                  </a:lnTo>
                  <a:lnTo>
                    <a:pt x="104060" y="17859"/>
                  </a:lnTo>
                  <a:lnTo>
                    <a:pt x="84683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616954" y="2755773"/>
            <a:ext cx="138049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10" b="1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220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330" b="1">
                <a:solidFill>
                  <a:srgbClr val="272424"/>
                </a:solidFill>
                <a:latin typeface="Tahoma"/>
                <a:cs typeface="Tahoma"/>
              </a:rPr>
              <a:t>&amp;</a:t>
            </a:r>
            <a:r>
              <a:rPr dirty="0" sz="220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25" b="1">
                <a:solidFill>
                  <a:srgbClr val="272424"/>
                </a:solidFill>
                <a:latin typeface="Tahoma"/>
                <a:cs typeface="Tahoma"/>
              </a:rPr>
              <a:t>ML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616954" y="3300780"/>
            <a:ext cx="2251075" cy="113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Python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scikit-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learn</a:t>
            </a:r>
            <a:r>
              <a:rPr dirty="0" sz="17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50">
                <a:solidFill>
                  <a:srgbClr val="272424"/>
                </a:solidFill>
                <a:latin typeface="Tahoma"/>
                <a:cs typeface="Tahoma"/>
              </a:rPr>
              <a:t>· </a:t>
            </a:r>
            <a:r>
              <a:rPr dirty="0" sz="1750" spc="105">
                <a:solidFill>
                  <a:srgbClr val="272424"/>
                </a:solidFill>
                <a:latin typeface="Tahoma"/>
                <a:cs typeface="Tahoma"/>
              </a:rPr>
              <a:t>XGBoost</a:t>
            </a:r>
            <a:r>
              <a:rPr dirty="0" sz="1750" spc="-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Prophet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50">
                <a:solidFill>
                  <a:srgbClr val="272424"/>
                </a:solidFill>
                <a:latin typeface="Tahoma"/>
                <a:cs typeface="Tahoma"/>
              </a:rPr>
              <a:t>· </a:t>
            </a: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Pandas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NumPy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249670" y="4918836"/>
            <a:ext cx="3547745" cy="1852295"/>
            <a:chOff x="6249670" y="4918836"/>
            <a:chExt cx="3547745" cy="1852295"/>
          </a:xfrm>
        </p:grpSpPr>
        <p:sp>
          <p:nvSpPr>
            <p:cNvPr id="10" name="object 10" descr=""/>
            <p:cNvSpPr/>
            <p:nvPr/>
          </p:nvSpPr>
          <p:spPr>
            <a:xfrm>
              <a:off x="6280150" y="4934076"/>
              <a:ext cx="3502025" cy="1821814"/>
            </a:xfrm>
            <a:custGeom>
              <a:avLst/>
              <a:gdLst/>
              <a:ahLst/>
              <a:cxnLst/>
              <a:rect l="l" t="t" r="r" b="b"/>
              <a:pathLst>
                <a:path w="3502025" h="1821815">
                  <a:moveTo>
                    <a:pt x="0" y="146304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3" y="0"/>
                  </a:lnTo>
                  <a:lnTo>
                    <a:pt x="3355213" y="0"/>
                  </a:lnTo>
                  <a:lnTo>
                    <a:pt x="3401445" y="7461"/>
                  </a:lnTo>
                  <a:lnTo>
                    <a:pt x="3441605" y="28236"/>
                  </a:lnTo>
                  <a:lnTo>
                    <a:pt x="3473280" y="59911"/>
                  </a:lnTo>
                  <a:lnTo>
                    <a:pt x="3494055" y="100071"/>
                  </a:lnTo>
                  <a:lnTo>
                    <a:pt x="3501517" y="146304"/>
                  </a:lnTo>
                  <a:lnTo>
                    <a:pt x="3501517" y="1675257"/>
                  </a:lnTo>
                  <a:lnTo>
                    <a:pt x="3494055" y="1721489"/>
                  </a:lnTo>
                  <a:lnTo>
                    <a:pt x="3473280" y="1761649"/>
                  </a:lnTo>
                  <a:lnTo>
                    <a:pt x="3441605" y="1793324"/>
                  </a:lnTo>
                  <a:lnTo>
                    <a:pt x="3401445" y="1814099"/>
                  </a:lnTo>
                  <a:lnTo>
                    <a:pt x="3355213" y="1821561"/>
                  </a:lnTo>
                  <a:lnTo>
                    <a:pt x="146303" y="1821561"/>
                  </a:lnTo>
                  <a:lnTo>
                    <a:pt x="100071" y="1814099"/>
                  </a:lnTo>
                  <a:lnTo>
                    <a:pt x="59911" y="1793324"/>
                  </a:lnTo>
                  <a:lnTo>
                    <a:pt x="28236" y="1761649"/>
                  </a:lnTo>
                  <a:lnTo>
                    <a:pt x="7461" y="1721489"/>
                  </a:lnTo>
                  <a:lnTo>
                    <a:pt x="0" y="1675257"/>
                  </a:lnTo>
                  <a:lnTo>
                    <a:pt x="0" y="146304"/>
                  </a:lnTo>
                  <a:close/>
                </a:path>
              </a:pathLst>
            </a:custGeom>
            <a:ln w="3048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49670" y="4934076"/>
              <a:ext cx="121920" cy="1821814"/>
            </a:xfrm>
            <a:custGeom>
              <a:avLst/>
              <a:gdLst/>
              <a:ahLst/>
              <a:cxnLst/>
              <a:rect l="l" t="t" r="r" b="b"/>
              <a:pathLst>
                <a:path w="121920" h="1821815">
                  <a:moveTo>
                    <a:pt x="60959" y="0"/>
                  </a:move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60"/>
                  </a:lnTo>
                  <a:lnTo>
                    <a:pt x="0" y="1760601"/>
                  </a:lnTo>
                  <a:lnTo>
                    <a:pt x="4792" y="1784324"/>
                  </a:lnTo>
                  <a:lnTo>
                    <a:pt x="17859" y="1803701"/>
                  </a:lnTo>
                  <a:lnTo>
                    <a:pt x="37236" y="1816768"/>
                  </a:lnTo>
                  <a:lnTo>
                    <a:pt x="60959" y="1821561"/>
                  </a:lnTo>
                  <a:lnTo>
                    <a:pt x="84683" y="1816768"/>
                  </a:lnTo>
                  <a:lnTo>
                    <a:pt x="104060" y="1803701"/>
                  </a:lnTo>
                  <a:lnTo>
                    <a:pt x="117127" y="1784324"/>
                  </a:lnTo>
                  <a:lnTo>
                    <a:pt x="121919" y="1760601"/>
                  </a:lnTo>
                  <a:lnTo>
                    <a:pt x="121919" y="60960"/>
                  </a:lnTo>
                  <a:lnTo>
                    <a:pt x="117127" y="37236"/>
                  </a:lnTo>
                  <a:lnTo>
                    <a:pt x="104060" y="17859"/>
                  </a:lnTo>
                  <a:lnTo>
                    <a:pt x="84683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616954" y="5167071"/>
            <a:ext cx="118300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45" b="1">
                <a:solidFill>
                  <a:srgbClr val="272424"/>
                </a:solidFill>
                <a:latin typeface="Tahoma"/>
                <a:cs typeface="Tahoma"/>
              </a:rPr>
              <a:t>Backend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16954" y="5711746"/>
            <a:ext cx="2596515" cy="76390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FastAPI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Celery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Redis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5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PostgreSQL</a:t>
            </a:r>
            <a:r>
              <a:rPr dirty="0" sz="17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272424"/>
                </a:solidFill>
                <a:latin typeface="Tahoma"/>
                <a:cs typeface="Tahoma"/>
              </a:rPr>
              <a:t>MLflow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0312272" y="2507614"/>
            <a:ext cx="3547745" cy="1852295"/>
            <a:chOff x="10312272" y="2507614"/>
            <a:chExt cx="3547745" cy="1852295"/>
          </a:xfrm>
        </p:grpSpPr>
        <p:sp>
          <p:nvSpPr>
            <p:cNvPr id="15" name="object 15" descr=""/>
            <p:cNvSpPr/>
            <p:nvPr/>
          </p:nvSpPr>
          <p:spPr>
            <a:xfrm>
              <a:off x="10342752" y="2522854"/>
              <a:ext cx="3502025" cy="1821814"/>
            </a:xfrm>
            <a:custGeom>
              <a:avLst/>
              <a:gdLst/>
              <a:ahLst/>
              <a:cxnLst/>
              <a:rect l="l" t="t" r="r" b="b"/>
              <a:pathLst>
                <a:path w="3502025" h="1821814">
                  <a:moveTo>
                    <a:pt x="0" y="146304"/>
                  </a:moveTo>
                  <a:lnTo>
                    <a:pt x="7461" y="100023"/>
                  </a:lnTo>
                  <a:lnTo>
                    <a:pt x="28236" y="59856"/>
                  </a:lnTo>
                  <a:lnTo>
                    <a:pt x="59911" y="28200"/>
                  </a:lnTo>
                  <a:lnTo>
                    <a:pt x="100071" y="7449"/>
                  </a:lnTo>
                  <a:lnTo>
                    <a:pt x="146303" y="0"/>
                  </a:lnTo>
                  <a:lnTo>
                    <a:pt x="3355212" y="0"/>
                  </a:lnTo>
                  <a:lnTo>
                    <a:pt x="3401445" y="7449"/>
                  </a:lnTo>
                  <a:lnTo>
                    <a:pt x="3441605" y="28200"/>
                  </a:lnTo>
                  <a:lnTo>
                    <a:pt x="3473280" y="59856"/>
                  </a:lnTo>
                  <a:lnTo>
                    <a:pt x="3494055" y="100023"/>
                  </a:lnTo>
                  <a:lnTo>
                    <a:pt x="3501516" y="146304"/>
                  </a:lnTo>
                  <a:lnTo>
                    <a:pt x="3501516" y="1675130"/>
                  </a:lnTo>
                  <a:lnTo>
                    <a:pt x="3494055" y="1721410"/>
                  </a:lnTo>
                  <a:lnTo>
                    <a:pt x="3473280" y="1761577"/>
                  </a:lnTo>
                  <a:lnTo>
                    <a:pt x="3441605" y="1793233"/>
                  </a:lnTo>
                  <a:lnTo>
                    <a:pt x="3401445" y="1813984"/>
                  </a:lnTo>
                  <a:lnTo>
                    <a:pt x="3355212" y="1821434"/>
                  </a:lnTo>
                  <a:lnTo>
                    <a:pt x="146303" y="1821434"/>
                  </a:lnTo>
                  <a:lnTo>
                    <a:pt x="100071" y="1813984"/>
                  </a:lnTo>
                  <a:lnTo>
                    <a:pt x="59911" y="1793233"/>
                  </a:lnTo>
                  <a:lnTo>
                    <a:pt x="28236" y="1761577"/>
                  </a:lnTo>
                  <a:lnTo>
                    <a:pt x="7461" y="1721410"/>
                  </a:lnTo>
                  <a:lnTo>
                    <a:pt x="0" y="1675130"/>
                  </a:lnTo>
                  <a:lnTo>
                    <a:pt x="0" y="146304"/>
                  </a:lnTo>
                  <a:close/>
                </a:path>
              </a:pathLst>
            </a:custGeom>
            <a:ln w="3048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312272" y="2522854"/>
              <a:ext cx="121920" cy="1821814"/>
            </a:xfrm>
            <a:custGeom>
              <a:avLst/>
              <a:gdLst/>
              <a:ahLst/>
              <a:cxnLst/>
              <a:rect l="l" t="t" r="r" b="b"/>
              <a:pathLst>
                <a:path w="121920" h="1821814">
                  <a:moveTo>
                    <a:pt x="60959" y="0"/>
                  </a:move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60"/>
                  </a:lnTo>
                  <a:lnTo>
                    <a:pt x="25" y="1760601"/>
                  </a:lnTo>
                  <a:lnTo>
                    <a:pt x="4841" y="1784324"/>
                  </a:lnTo>
                  <a:lnTo>
                    <a:pt x="17977" y="1803701"/>
                  </a:lnTo>
                  <a:lnTo>
                    <a:pt x="37399" y="1816768"/>
                  </a:lnTo>
                  <a:lnTo>
                    <a:pt x="37765" y="1816768"/>
                  </a:lnTo>
                  <a:lnTo>
                    <a:pt x="60959" y="1821561"/>
                  </a:lnTo>
                  <a:lnTo>
                    <a:pt x="84683" y="1816768"/>
                  </a:lnTo>
                  <a:lnTo>
                    <a:pt x="104060" y="1803701"/>
                  </a:lnTo>
                  <a:lnTo>
                    <a:pt x="117127" y="1784324"/>
                  </a:lnTo>
                  <a:lnTo>
                    <a:pt x="121920" y="1760601"/>
                  </a:lnTo>
                  <a:lnTo>
                    <a:pt x="121920" y="60960"/>
                  </a:lnTo>
                  <a:lnTo>
                    <a:pt x="117127" y="37236"/>
                  </a:lnTo>
                  <a:lnTo>
                    <a:pt x="104060" y="17859"/>
                  </a:lnTo>
                  <a:lnTo>
                    <a:pt x="84683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0679683" y="2755773"/>
            <a:ext cx="16935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80" b="1">
                <a:solidFill>
                  <a:srgbClr val="272424"/>
                </a:solidFill>
                <a:latin typeface="Tahoma"/>
                <a:cs typeface="Tahoma"/>
              </a:rPr>
              <a:t>Visualisation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679683" y="3300780"/>
            <a:ext cx="2680970" cy="76327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Plotly</a:t>
            </a:r>
            <a:r>
              <a:rPr dirty="0" sz="17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272424"/>
                </a:solidFill>
                <a:latin typeface="Tahoma"/>
                <a:cs typeface="Tahoma"/>
              </a:rPr>
              <a:t>Dash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Matplotlib</a:t>
            </a:r>
            <a:r>
              <a:rPr dirty="0" sz="1750" spc="-50">
                <a:solidFill>
                  <a:srgbClr val="272424"/>
                </a:solidFill>
                <a:latin typeface="Tahoma"/>
                <a:cs typeface="Tahoma"/>
              </a:rPr>
              <a:t> ·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Seaborn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0312272" y="4555871"/>
            <a:ext cx="3547745" cy="1852295"/>
            <a:chOff x="10312272" y="4555871"/>
            <a:chExt cx="3547745" cy="1852295"/>
          </a:xfrm>
        </p:grpSpPr>
        <p:sp>
          <p:nvSpPr>
            <p:cNvPr id="20" name="object 20" descr=""/>
            <p:cNvSpPr/>
            <p:nvPr/>
          </p:nvSpPr>
          <p:spPr>
            <a:xfrm>
              <a:off x="10342752" y="4571111"/>
              <a:ext cx="3502025" cy="1821814"/>
            </a:xfrm>
            <a:custGeom>
              <a:avLst/>
              <a:gdLst/>
              <a:ahLst/>
              <a:cxnLst/>
              <a:rect l="l" t="t" r="r" b="b"/>
              <a:pathLst>
                <a:path w="3502025" h="1821814">
                  <a:moveTo>
                    <a:pt x="0" y="146303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3" y="0"/>
                  </a:lnTo>
                  <a:lnTo>
                    <a:pt x="3355212" y="0"/>
                  </a:lnTo>
                  <a:lnTo>
                    <a:pt x="3401445" y="7461"/>
                  </a:lnTo>
                  <a:lnTo>
                    <a:pt x="3441605" y="28236"/>
                  </a:lnTo>
                  <a:lnTo>
                    <a:pt x="3473280" y="59911"/>
                  </a:lnTo>
                  <a:lnTo>
                    <a:pt x="3494055" y="100071"/>
                  </a:lnTo>
                  <a:lnTo>
                    <a:pt x="3501516" y="146303"/>
                  </a:lnTo>
                  <a:lnTo>
                    <a:pt x="3501516" y="1675257"/>
                  </a:lnTo>
                  <a:lnTo>
                    <a:pt x="3494055" y="1721489"/>
                  </a:lnTo>
                  <a:lnTo>
                    <a:pt x="3473280" y="1761649"/>
                  </a:lnTo>
                  <a:lnTo>
                    <a:pt x="3441605" y="1793324"/>
                  </a:lnTo>
                  <a:lnTo>
                    <a:pt x="3401445" y="1814099"/>
                  </a:lnTo>
                  <a:lnTo>
                    <a:pt x="3355212" y="1821561"/>
                  </a:lnTo>
                  <a:lnTo>
                    <a:pt x="146303" y="1821561"/>
                  </a:lnTo>
                  <a:lnTo>
                    <a:pt x="100071" y="1814099"/>
                  </a:lnTo>
                  <a:lnTo>
                    <a:pt x="59911" y="1793324"/>
                  </a:lnTo>
                  <a:lnTo>
                    <a:pt x="28236" y="1761649"/>
                  </a:lnTo>
                  <a:lnTo>
                    <a:pt x="7461" y="1721489"/>
                  </a:lnTo>
                  <a:lnTo>
                    <a:pt x="0" y="1675257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312272" y="4571111"/>
              <a:ext cx="121920" cy="1821814"/>
            </a:xfrm>
            <a:custGeom>
              <a:avLst/>
              <a:gdLst/>
              <a:ahLst/>
              <a:cxnLst/>
              <a:rect l="l" t="t" r="r" b="b"/>
              <a:pathLst>
                <a:path w="121920" h="1821814">
                  <a:moveTo>
                    <a:pt x="60959" y="0"/>
                  </a:move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60"/>
                  </a:lnTo>
                  <a:lnTo>
                    <a:pt x="0" y="1760601"/>
                  </a:lnTo>
                  <a:lnTo>
                    <a:pt x="4792" y="1784324"/>
                  </a:lnTo>
                  <a:lnTo>
                    <a:pt x="17859" y="1803701"/>
                  </a:lnTo>
                  <a:lnTo>
                    <a:pt x="37236" y="1816768"/>
                  </a:lnTo>
                  <a:lnTo>
                    <a:pt x="60959" y="1821561"/>
                  </a:lnTo>
                  <a:lnTo>
                    <a:pt x="84683" y="1816768"/>
                  </a:lnTo>
                  <a:lnTo>
                    <a:pt x="104060" y="1803701"/>
                  </a:lnTo>
                  <a:lnTo>
                    <a:pt x="117127" y="1784324"/>
                  </a:lnTo>
                  <a:lnTo>
                    <a:pt x="121920" y="1760601"/>
                  </a:lnTo>
                  <a:lnTo>
                    <a:pt x="121920" y="60960"/>
                  </a:lnTo>
                  <a:lnTo>
                    <a:pt x="117127" y="37236"/>
                  </a:lnTo>
                  <a:lnTo>
                    <a:pt x="104060" y="17859"/>
                  </a:lnTo>
                  <a:lnTo>
                    <a:pt x="84683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679683" y="4804664"/>
            <a:ext cx="12242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75" b="1">
                <a:solidFill>
                  <a:srgbClr val="272424"/>
                </a:solidFill>
                <a:latin typeface="Tahoma"/>
                <a:cs typeface="Tahoma"/>
              </a:rPr>
              <a:t>Frontend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67920" y="7127632"/>
            <a:ext cx="2562479" cy="1101965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10679683" y="5349671"/>
            <a:ext cx="2532380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React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TypeScript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50">
                <a:solidFill>
                  <a:srgbClr val="272424"/>
                </a:solidFill>
                <a:latin typeface="Tahoma"/>
                <a:cs typeface="Tahoma"/>
              </a:rPr>
              <a:t>·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Tailwind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70">
                <a:solidFill>
                  <a:srgbClr val="272424"/>
                </a:solidFill>
                <a:latin typeface="Tahoma"/>
                <a:cs typeface="Tahoma"/>
              </a:rPr>
              <a:t>CSS</a:t>
            </a:r>
            <a:r>
              <a:rPr dirty="0" sz="175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20">
                <a:solidFill>
                  <a:srgbClr val="272424"/>
                </a:solidFill>
                <a:latin typeface="Tahoma"/>
                <a:cs typeface="Tahoma"/>
              </a:rPr>
              <a:t>·</a:t>
            </a:r>
            <a:r>
              <a:rPr dirty="0" sz="17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Recharts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7920" y="7127632"/>
            <a:ext cx="2562479" cy="11019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2150" spc="-10"/>
              <a:t>Codebase</a:t>
            </a:r>
            <a:r>
              <a:rPr dirty="0" sz="2150" spc="-150"/>
              <a:t> </a:t>
            </a:r>
            <a:r>
              <a:rPr dirty="0" sz="2150" spc="-140"/>
              <a:t>at</a:t>
            </a:r>
            <a:r>
              <a:rPr dirty="0" sz="2150" spc="-40"/>
              <a:t> </a:t>
            </a:r>
            <a:r>
              <a:rPr dirty="0" sz="2150"/>
              <a:t>a</a:t>
            </a:r>
            <a:r>
              <a:rPr dirty="0" sz="2150" spc="-75"/>
              <a:t> </a:t>
            </a:r>
            <a:r>
              <a:rPr dirty="0" sz="2150" spc="-10"/>
              <a:t>Glance</a:t>
            </a:r>
            <a:endParaRPr sz="2150"/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4350" spc="-170"/>
              <a:t>Project</a:t>
            </a:r>
            <a:r>
              <a:rPr dirty="0" sz="4350" spc="-114"/>
              <a:t> </a:t>
            </a:r>
            <a:r>
              <a:rPr dirty="0" sz="4350" spc="-160"/>
              <a:t>Structure</a:t>
            </a:r>
            <a:endParaRPr sz="4350"/>
          </a:p>
        </p:txBody>
      </p:sp>
      <p:sp>
        <p:nvSpPr>
          <p:cNvPr id="4" name="object 4" descr=""/>
          <p:cNvSpPr/>
          <p:nvPr/>
        </p:nvSpPr>
        <p:spPr>
          <a:xfrm>
            <a:off x="762838" y="2343022"/>
            <a:ext cx="6294120" cy="4632960"/>
          </a:xfrm>
          <a:custGeom>
            <a:avLst/>
            <a:gdLst/>
            <a:ahLst/>
            <a:cxnLst/>
            <a:rect l="l" t="t" r="r" b="b"/>
            <a:pathLst>
              <a:path w="6294120" h="4632959">
                <a:moveTo>
                  <a:pt x="6293663" y="33147"/>
                </a:moveTo>
                <a:lnTo>
                  <a:pt x="6291046" y="20256"/>
                </a:lnTo>
                <a:lnTo>
                  <a:pt x="6283947" y="9715"/>
                </a:lnTo>
                <a:lnTo>
                  <a:pt x="6273406" y="2616"/>
                </a:lnTo>
                <a:lnTo>
                  <a:pt x="6260516" y="0"/>
                </a:lnTo>
                <a:lnTo>
                  <a:pt x="6189777" y="0"/>
                </a:lnTo>
                <a:lnTo>
                  <a:pt x="103835" y="0"/>
                </a:lnTo>
                <a:lnTo>
                  <a:pt x="33159" y="0"/>
                </a:lnTo>
                <a:lnTo>
                  <a:pt x="20243" y="2616"/>
                </a:lnTo>
                <a:lnTo>
                  <a:pt x="9702" y="9728"/>
                </a:lnTo>
                <a:lnTo>
                  <a:pt x="2603" y="20256"/>
                </a:lnTo>
                <a:lnTo>
                  <a:pt x="0" y="33147"/>
                </a:lnTo>
                <a:lnTo>
                  <a:pt x="0" y="4599305"/>
                </a:lnTo>
                <a:lnTo>
                  <a:pt x="2603" y="4612233"/>
                </a:lnTo>
                <a:lnTo>
                  <a:pt x="9702" y="4622774"/>
                </a:lnTo>
                <a:lnTo>
                  <a:pt x="20243" y="4629886"/>
                </a:lnTo>
                <a:lnTo>
                  <a:pt x="33159" y="4632490"/>
                </a:lnTo>
                <a:lnTo>
                  <a:pt x="103835" y="4632490"/>
                </a:lnTo>
                <a:lnTo>
                  <a:pt x="6189777" y="4632490"/>
                </a:lnTo>
                <a:lnTo>
                  <a:pt x="6260516" y="4632490"/>
                </a:lnTo>
                <a:lnTo>
                  <a:pt x="6273406" y="4629886"/>
                </a:lnTo>
                <a:lnTo>
                  <a:pt x="6283947" y="4622774"/>
                </a:lnTo>
                <a:lnTo>
                  <a:pt x="6291046" y="4612233"/>
                </a:lnTo>
                <a:lnTo>
                  <a:pt x="6293663" y="4599305"/>
                </a:lnTo>
                <a:lnTo>
                  <a:pt x="6293663" y="3314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26667" y="2506827"/>
            <a:ext cx="1930400" cy="144780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700" spc="-20">
                <a:solidFill>
                  <a:srgbClr val="272424"/>
                </a:solidFill>
                <a:latin typeface="Consolas"/>
                <a:cs typeface="Consolas"/>
              </a:rPr>
              <a:t>/churn-</a:t>
            </a:r>
            <a:r>
              <a:rPr dirty="0" sz="1700" spc="-10">
                <a:solidFill>
                  <a:srgbClr val="272424"/>
                </a:solidFill>
                <a:latin typeface="Consolas"/>
                <a:cs typeface="Consolas"/>
              </a:rPr>
              <a:t>platform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├──</a:t>
            </a:r>
            <a:r>
              <a:rPr dirty="0" sz="1700" spc="-4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Consolas"/>
                <a:cs typeface="Consolas"/>
              </a:rPr>
              <a:t>/frontend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├──</a:t>
            </a:r>
            <a:r>
              <a:rPr dirty="0" sz="1700" spc="-4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Consolas"/>
                <a:cs typeface="Consolas"/>
              </a:rPr>
              <a:t>/api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├──</a:t>
            </a:r>
            <a:r>
              <a:rPr dirty="0" sz="1700" spc="-4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Consolas"/>
                <a:cs typeface="Consolas"/>
              </a:rPr>
              <a:t>/ml_pipeline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25577" y="2860395"/>
            <a:ext cx="2646045" cy="1094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01980">
              <a:lnSpc>
                <a:spcPct val="137600"/>
              </a:lnSpc>
              <a:spcBef>
                <a:spcPts val="100"/>
              </a:spcBef>
            </a:pP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#</a:t>
            </a:r>
            <a:r>
              <a:rPr dirty="0" sz="1700" spc="-3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React</a:t>
            </a:r>
            <a:r>
              <a:rPr dirty="0" sz="1700" spc="-3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Consolas"/>
                <a:cs typeface="Consolas"/>
              </a:rPr>
              <a:t>dashboard </a:t>
            </a: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#</a:t>
            </a:r>
            <a:r>
              <a:rPr dirty="0" sz="1700" spc="-45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FastAPI</a:t>
            </a:r>
            <a:r>
              <a:rPr dirty="0" sz="1700" spc="-4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Consolas"/>
                <a:cs typeface="Consolas"/>
              </a:rPr>
              <a:t>service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#</a:t>
            </a:r>
            <a:r>
              <a:rPr dirty="0" sz="1700" spc="-4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Training</a:t>
            </a:r>
            <a:r>
              <a:rPr dirty="0" sz="1700" spc="-35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&amp;</a:t>
            </a:r>
            <a:r>
              <a:rPr dirty="0" sz="1700" spc="-35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Consolas"/>
                <a:cs typeface="Consolas"/>
              </a:rPr>
              <a:t>inference</a:t>
            </a:r>
            <a:endParaRPr sz="1700">
              <a:latin typeface="Consolas"/>
              <a:cs typeface="Consolas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007617" y="4092762"/>
          <a:ext cx="5497195" cy="199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675"/>
                <a:gridCol w="475615"/>
                <a:gridCol w="1429385"/>
                <a:gridCol w="356869"/>
                <a:gridCol w="2711450"/>
              </a:tblGrid>
              <a:tr h="286385">
                <a:tc>
                  <a:txBody>
                    <a:bodyPr/>
                    <a:lstStyle/>
                    <a:p>
                      <a:pPr marL="31750">
                        <a:lnSpc>
                          <a:spcPts val="1605"/>
                        </a:lnSpc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dirty="0" sz="1700" spc="-25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├──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605"/>
                        </a:lnSpc>
                      </a:pP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/data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605"/>
                        </a:lnSpc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605"/>
                        </a:lnSpc>
                      </a:pP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Ingestion</a:t>
                      </a:r>
                      <a:r>
                        <a:rPr dirty="0" sz="1700" spc="-6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dirty="0" sz="1700" spc="-55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processing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355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25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├──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/features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Feature</a:t>
                      </a:r>
                      <a:r>
                        <a:rPr dirty="0" sz="1700" spc="-8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engineering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4604"/>
                </a:tc>
              </a:tr>
              <a:tr h="3549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spc="-25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├──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/models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Model</a:t>
                      </a: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artefacts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  <a:tr h="2857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spc="-25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└──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/scheduler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Retraining</a:t>
                      </a:r>
                      <a:r>
                        <a:rPr dirty="0" sz="1700" spc="-4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2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jobs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  <a:tr h="4260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700" spc="-25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├──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85090"/>
                </a:tc>
                <a:tc grid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/monitoring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8509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8509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Drift</a:t>
                      </a:r>
                      <a:r>
                        <a:rPr dirty="0" sz="1700" spc="-3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dirty="0" sz="1700" spc="-3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performance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85090"/>
                </a:tc>
              </a:tr>
              <a:tr h="285750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  <a:spcBef>
                          <a:spcPts val="110"/>
                        </a:spcBef>
                      </a:pPr>
                      <a:r>
                        <a:rPr dirty="0" sz="1700" spc="-25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├──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 gridSpan="2">
                  <a:txBody>
                    <a:bodyPr/>
                    <a:lstStyle/>
                    <a:p>
                      <a:pPr marL="59055">
                        <a:lnSpc>
                          <a:spcPts val="2039"/>
                        </a:lnSpc>
                        <a:spcBef>
                          <a:spcPts val="110"/>
                        </a:spcBef>
                      </a:pP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/tests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2039"/>
                        </a:lnSpc>
                        <a:spcBef>
                          <a:spcPts val="110"/>
                        </a:spcBef>
                      </a:pPr>
                      <a:r>
                        <a:rPr dirty="0" sz="1700" spc="-5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2039"/>
                        </a:lnSpc>
                        <a:spcBef>
                          <a:spcPts val="110"/>
                        </a:spcBef>
                      </a:pP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Unit</a:t>
                      </a:r>
                      <a:r>
                        <a:rPr dirty="0" sz="1700" spc="-25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dirty="0" sz="1700" spc="-2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10">
                          <a:solidFill>
                            <a:srgbClr val="272424"/>
                          </a:solidFill>
                          <a:latin typeface="Consolas"/>
                          <a:cs typeface="Consolas"/>
                        </a:rPr>
                        <a:t>integration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13970"/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1026667" y="6158229"/>
            <a:ext cx="264414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272424"/>
                </a:solidFill>
                <a:latin typeface="Consolas"/>
                <a:cs typeface="Consolas"/>
              </a:rPr>
              <a:t>└── </a:t>
            </a:r>
            <a:r>
              <a:rPr dirty="0" sz="1700" spc="-20">
                <a:solidFill>
                  <a:srgbClr val="272424"/>
                </a:solidFill>
                <a:latin typeface="Consolas"/>
                <a:cs typeface="Consolas"/>
              </a:rPr>
              <a:t>docker-</a:t>
            </a:r>
            <a:r>
              <a:rPr dirty="0" sz="1700" spc="-10">
                <a:solidFill>
                  <a:srgbClr val="272424"/>
                </a:solidFill>
                <a:latin typeface="Consolas"/>
                <a:cs typeface="Consolas"/>
              </a:rPr>
              <a:t>compose.yml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676627" y="2349930"/>
            <a:ext cx="330835" cy="332105"/>
          </a:xfrm>
          <a:custGeom>
            <a:avLst/>
            <a:gdLst/>
            <a:ahLst/>
            <a:cxnLst/>
            <a:rect l="l" t="t" r="r" b="b"/>
            <a:pathLst>
              <a:path w="330834" h="332105">
                <a:moveTo>
                  <a:pt x="191975" y="0"/>
                </a:moveTo>
                <a:lnTo>
                  <a:pt x="184476" y="0"/>
                </a:lnTo>
                <a:lnTo>
                  <a:pt x="175360" y="10622"/>
                </a:lnTo>
                <a:lnTo>
                  <a:pt x="175360" y="19360"/>
                </a:lnTo>
                <a:lnTo>
                  <a:pt x="289253" y="152071"/>
                </a:lnTo>
                <a:lnTo>
                  <a:pt x="5293" y="152071"/>
                </a:lnTo>
                <a:lnTo>
                  <a:pt x="0" y="158239"/>
                </a:lnTo>
                <a:lnTo>
                  <a:pt x="0" y="173323"/>
                </a:lnTo>
                <a:lnTo>
                  <a:pt x="5293" y="179491"/>
                </a:lnTo>
                <a:lnTo>
                  <a:pt x="289253" y="179491"/>
                </a:lnTo>
                <a:lnTo>
                  <a:pt x="175360" y="312200"/>
                </a:lnTo>
                <a:lnTo>
                  <a:pt x="175360" y="320939"/>
                </a:lnTo>
                <a:lnTo>
                  <a:pt x="184477" y="331563"/>
                </a:lnTo>
                <a:lnTo>
                  <a:pt x="191976" y="331563"/>
                </a:lnTo>
                <a:lnTo>
                  <a:pt x="325945" y="175465"/>
                </a:lnTo>
                <a:lnTo>
                  <a:pt x="330503" y="170147"/>
                </a:lnTo>
                <a:lnTo>
                  <a:pt x="330503" y="161409"/>
                </a:lnTo>
                <a:lnTo>
                  <a:pt x="191975" y="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298942" y="2315718"/>
            <a:ext cx="1233170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20" b="1">
                <a:solidFill>
                  <a:srgbClr val="272424"/>
                </a:solidFill>
                <a:latin typeface="Tahoma"/>
                <a:cs typeface="Tahoma"/>
              </a:rPr>
              <a:t>frontend/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298942" y="2846426"/>
            <a:ext cx="5401310" cy="736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200"/>
              </a:lnSpc>
              <a:spcBef>
                <a:spcPts val="95"/>
              </a:spcBef>
            </a:pPr>
            <a:r>
              <a:rPr dirty="0" sz="1700" spc="80">
                <a:solidFill>
                  <a:srgbClr val="272424"/>
                </a:solidFill>
                <a:latin typeface="Tahoma"/>
                <a:cs typeface="Tahoma"/>
              </a:rPr>
              <a:t>React-</a:t>
            </a:r>
            <a:r>
              <a:rPr dirty="0" sz="1700" spc="95">
                <a:solidFill>
                  <a:srgbClr val="272424"/>
                </a:solidFill>
                <a:latin typeface="Tahoma"/>
                <a:cs typeface="Tahoma"/>
              </a:rPr>
              <a:t>based</a:t>
            </a:r>
            <a:r>
              <a:rPr dirty="0" sz="17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75">
                <a:solidFill>
                  <a:srgbClr val="272424"/>
                </a:solidFill>
                <a:latin typeface="Tahoma"/>
                <a:cs typeface="Tahoma"/>
              </a:rPr>
              <a:t>dashboard</a:t>
            </a:r>
            <a:r>
              <a:rPr dirty="0" sz="17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70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65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dirty="0" sz="170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dirty="0" sz="17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7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80">
                <a:solidFill>
                  <a:srgbClr val="272424"/>
                </a:solidFill>
                <a:latin typeface="Tahoma"/>
                <a:cs typeface="Tahoma"/>
              </a:rPr>
              <a:t>scores, </a:t>
            </a:r>
            <a:r>
              <a:rPr dirty="0" sz="1700" spc="65">
                <a:solidFill>
                  <a:srgbClr val="272424"/>
                </a:solidFill>
                <a:latin typeface="Tahoma"/>
                <a:cs typeface="Tahoma"/>
              </a:rPr>
              <a:t>segment</a:t>
            </a:r>
            <a:r>
              <a:rPr dirty="0" sz="170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272424"/>
                </a:solidFill>
                <a:latin typeface="Tahoma"/>
                <a:cs typeface="Tahoma"/>
              </a:rPr>
              <a:t>filters,</a:t>
            </a:r>
            <a:r>
              <a:rPr dirty="0" sz="1700" spc="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0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272424"/>
                </a:solidFill>
                <a:latin typeface="Tahoma"/>
                <a:cs typeface="Tahoma"/>
              </a:rPr>
              <a:t>retention</a:t>
            </a:r>
            <a:r>
              <a:rPr dirty="0" sz="170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Tahoma"/>
                <a:cs typeface="Tahoma"/>
              </a:rPr>
              <a:t>alerts.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676627" y="4040300"/>
            <a:ext cx="330835" cy="332105"/>
          </a:xfrm>
          <a:custGeom>
            <a:avLst/>
            <a:gdLst/>
            <a:ahLst/>
            <a:cxnLst/>
            <a:rect l="l" t="t" r="r" b="b"/>
            <a:pathLst>
              <a:path w="330834" h="332104">
                <a:moveTo>
                  <a:pt x="191975" y="0"/>
                </a:moveTo>
                <a:lnTo>
                  <a:pt x="184476" y="0"/>
                </a:lnTo>
                <a:lnTo>
                  <a:pt x="175360" y="10622"/>
                </a:lnTo>
                <a:lnTo>
                  <a:pt x="175360" y="19360"/>
                </a:lnTo>
                <a:lnTo>
                  <a:pt x="289253" y="152071"/>
                </a:lnTo>
                <a:lnTo>
                  <a:pt x="5293" y="152071"/>
                </a:lnTo>
                <a:lnTo>
                  <a:pt x="0" y="158239"/>
                </a:lnTo>
                <a:lnTo>
                  <a:pt x="0" y="173323"/>
                </a:lnTo>
                <a:lnTo>
                  <a:pt x="5293" y="179491"/>
                </a:lnTo>
                <a:lnTo>
                  <a:pt x="289253" y="179491"/>
                </a:lnTo>
                <a:lnTo>
                  <a:pt x="175360" y="312200"/>
                </a:lnTo>
                <a:lnTo>
                  <a:pt x="175360" y="320939"/>
                </a:lnTo>
                <a:lnTo>
                  <a:pt x="184477" y="331563"/>
                </a:lnTo>
                <a:lnTo>
                  <a:pt x="191976" y="331563"/>
                </a:lnTo>
                <a:lnTo>
                  <a:pt x="325945" y="175465"/>
                </a:lnTo>
                <a:lnTo>
                  <a:pt x="330503" y="170146"/>
                </a:lnTo>
                <a:lnTo>
                  <a:pt x="330503" y="161408"/>
                </a:lnTo>
                <a:lnTo>
                  <a:pt x="191975" y="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298942" y="4005783"/>
            <a:ext cx="5521325" cy="1267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70" b="1">
                <a:solidFill>
                  <a:srgbClr val="272424"/>
                </a:solidFill>
                <a:latin typeface="Tahoma"/>
                <a:cs typeface="Tahoma"/>
              </a:rPr>
              <a:t>ml_pipeline/</a:t>
            </a:r>
            <a:endParaRPr sz="2150">
              <a:latin typeface="Tahoma"/>
              <a:cs typeface="Tahoma"/>
            </a:endParaRPr>
          </a:p>
          <a:p>
            <a:pPr marL="12700" marR="5080">
              <a:lnSpc>
                <a:spcPct val="137100"/>
              </a:lnSpc>
              <a:spcBef>
                <a:spcPts val="1600"/>
              </a:spcBef>
            </a:pPr>
            <a:r>
              <a:rPr dirty="0" sz="1700" spc="75">
                <a:solidFill>
                  <a:srgbClr val="272424"/>
                </a:solidFill>
                <a:latin typeface="Tahoma"/>
                <a:cs typeface="Tahoma"/>
              </a:rPr>
              <a:t>Modular</a:t>
            </a:r>
            <a:r>
              <a:rPr dirty="0" sz="170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272424"/>
                </a:solidFill>
                <a:latin typeface="Tahoma"/>
                <a:cs typeface="Tahoma"/>
              </a:rPr>
              <a:t>pipeline</a:t>
            </a:r>
            <a:r>
              <a:rPr dirty="0" sz="1700" spc="-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80">
                <a:solidFill>
                  <a:srgbClr val="272424"/>
                </a:solidFill>
                <a:latin typeface="Tahoma"/>
                <a:cs typeface="Tahoma"/>
              </a:rPr>
              <a:t>covering</a:t>
            </a:r>
            <a:r>
              <a:rPr dirty="0" sz="170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272424"/>
                </a:solidFill>
                <a:latin typeface="Tahoma"/>
                <a:cs typeface="Tahoma"/>
              </a:rPr>
              <a:t>ingestion,</a:t>
            </a:r>
            <a:r>
              <a:rPr dirty="0" sz="170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40">
                <a:solidFill>
                  <a:srgbClr val="272424"/>
                </a:solidFill>
                <a:latin typeface="Tahoma"/>
                <a:cs typeface="Tahoma"/>
              </a:rPr>
              <a:t>feature </a:t>
            </a:r>
            <a:r>
              <a:rPr dirty="0" sz="1700" spc="50">
                <a:solidFill>
                  <a:srgbClr val="272424"/>
                </a:solidFill>
                <a:latin typeface="Tahoma"/>
                <a:cs typeface="Tahoma"/>
              </a:rPr>
              <a:t>engineering,</a:t>
            </a:r>
            <a:r>
              <a:rPr dirty="0" sz="170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65">
                <a:solidFill>
                  <a:srgbClr val="272424"/>
                </a:solidFill>
                <a:latin typeface="Tahoma"/>
                <a:cs typeface="Tahoma"/>
              </a:rPr>
              <a:t>model</a:t>
            </a:r>
            <a:r>
              <a:rPr dirty="0" sz="170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272424"/>
                </a:solidFill>
                <a:latin typeface="Tahoma"/>
                <a:cs typeface="Tahoma"/>
              </a:rPr>
              <a:t>training,</a:t>
            </a:r>
            <a:r>
              <a:rPr dirty="0" sz="17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85">
                <a:solidFill>
                  <a:srgbClr val="272424"/>
                </a:solidFill>
                <a:latin typeface="Tahoma"/>
                <a:cs typeface="Tahoma"/>
              </a:rPr>
              <a:t>scheduled</a:t>
            </a:r>
            <a:r>
              <a:rPr dirty="0" sz="170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Tahoma"/>
                <a:cs typeface="Tahoma"/>
              </a:rPr>
              <a:t>retraining.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676627" y="6079794"/>
            <a:ext cx="330835" cy="332105"/>
          </a:xfrm>
          <a:custGeom>
            <a:avLst/>
            <a:gdLst/>
            <a:ahLst/>
            <a:cxnLst/>
            <a:rect l="l" t="t" r="r" b="b"/>
            <a:pathLst>
              <a:path w="330834" h="332104">
                <a:moveTo>
                  <a:pt x="191975" y="0"/>
                </a:moveTo>
                <a:lnTo>
                  <a:pt x="184476" y="0"/>
                </a:lnTo>
                <a:lnTo>
                  <a:pt x="175360" y="10622"/>
                </a:lnTo>
                <a:lnTo>
                  <a:pt x="175360" y="19360"/>
                </a:lnTo>
                <a:lnTo>
                  <a:pt x="289253" y="152071"/>
                </a:lnTo>
                <a:lnTo>
                  <a:pt x="5293" y="152071"/>
                </a:lnTo>
                <a:lnTo>
                  <a:pt x="0" y="158239"/>
                </a:lnTo>
                <a:lnTo>
                  <a:pt x="0" y="173323"/>
                </a:lnTo>
                <a:lnTo>
                  <a:pt x="5293" y="179491"/>
                </a:lnTo>
                <a:lnTo>
                  <a:pt x="289253" y="179491"/>
                </a:lnTo>
                <a:lnTo>
                  <a:pt x="175360" y="312200"/>
                </a:lnTo>
                <a:lnTo>
                  <a:pt x="175360" y="320939"/>
                </a:lnTo>
                <a:lnTo>
                  <a:pt x="184477" y="331563"/>
                </a:lnTo>
                <a:lnTo>
                  <a:pt x="191976" y="331563"/>
                </a:lnTo>
                <a:lnTo>
                  <a:pt x="325945" y="175465"/>
                </a:lnTo>
                <a:lnTo>
                  <a:pt x="330503" y="170146"/>
                </a:lnTo>
                <a:lnTo>
                  <a:pt x="330503" y="161409"/>
                </a:lnTo>
                <a:lnTo>
                  <a:pt x="191975" y="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298942" y="6046089"/>
            <a:ext cx="150939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35" b="1">
                <a:solidFill>
                  <a:srgbClr val="272424"/>
                </a:solidFill>
                <a:latin typeface="Tahoma"/>
                <a:cs typeface="Tahoma"/>
              </a:rPr>
              <a:t>monitoring/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298942" y="6577482"/>
            <a:ext cx="477710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100"/>
              </a:spcBef>
            </a:pPr>
            <a:r>
              <a:rPr dirty="0" sz="1700" spc="95">
                <a:solidFill>
                  <a:srgbClr val="272424"/>
                </a:solidFill>
                <a:latin typeface="Tahoma"/>
                <a:cs typeface="Tahoma"/>
              </a:rPr>
              <a:t>Tracks</a:t>
            </a:r>
            <a:r>
              <a:rPr dirty="0" sz="170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65">
                <a:solidFill>
                  <a:srgbClr val="272424"/>
                </a:solidFill>
                <a:latin typeface="Tahoma"/>
                <a:cs typeface="Tahoma"/>
              </a:rPr>
              <a:t>model</a:t>
            </a:r>
            <a:r>
              <a:rPr dirty="0" sz="170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272424"/>
                </a:solidFill>
                <a:latin typeface="Tahoma"/>
                <a:cs typeface="Tahoma"/>
              </a:rPr>
              <a:t>drift,</a:t>
            </a:r>
            <a:r>
              <a:rPr dirty="0" sz="17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70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272424"/>
                </a:solidFill>
                <a:latin typeface="Tahoma"/>
                <a:cs typeface="Tahoma"/>
              </a:rPr>
              <a:t>quality, </a:t>
            </a:r>
            <a:r>
              <a:rPr dirty="0" sz="170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272424"/>
                </a:solidFill>
                <a:latin typeface="Tahoma"/>
                <a:cs typeface="Tahoma"/>
              </a:rPr>
              <a:t>prediction </a:t>
            </a:r>
            <a:r>
              <a:rPr dirty="0" sz="1700" spc="75">
                <a:solidFill>
                  <a:srgbClr val="272424"/>
                </a:solidFill>
                <a:latin typeface="Tahoma"/>
                <a:cs typeface="Tahoma"/>
              </a:rPr>
              <a:t>performance</a:t>
            </a:r>
            <a:r>
              <a:rPr dirty="0" sz="1700" spc="-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70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Tahoma"/>
                <a:cs typeface="Tahoma"/>
              </a:rPr>
              <a:t>time.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7920" y="7127632"/>
            <a:ext cx="2562479" cy="11019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099237"/>
            <a:ext cx="3555365" cy="1174115"/>
          </a:xfrm>
          <a:prstGeom prst="rect"/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2200"/>
              <a:t>Core</a:t>
            </a:r>
            <a:r>
              <a:rPr dirty="0" sz="2200" spc="-105"/>
              <a:t> </a:t>
            </a:r>
            <a:r>
              <a:rPr dirty="0" sz="2200" spc="-10"/>
              <a:t>Capabilities</a:t>
            </a:r>
            <a:endParaRPr sz="2200"/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4450"/>
              <a:t>Key</a:t>
            </a:r>
            <a:r>
              <a:rPr dirty="0" sz="4450" spc="-320"/>
              <a:t> </a:t>
            </a:r>
            <a:r>
              <a:rPr dirty="0" sz="4450" spc="-114"/>
              <a:t>Features</a:t>
            </a:r>
            <a:endParaRPr sz="44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788" y="2662745"/>
            <a:ext cx="1767839" cy="109251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81304" y="3994175"/>
            <a:ext cx="3013075" cy="306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24940">
              <a:lnSpc>
                <a:spcPct val="105900"/>
              </a:lnSpc>
              <a:spcBef>
                <a:spcPts val="100"/>
              </a:spcBef>
            </a:pPr>
            <a:r>
              <a:rPr dirty="0" sz="2200" spc="-55" b="1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dirty="0" sz="2200" spc="-9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45" b="1">
                <a:solidFill>
                  <a:srgbClr val="272424"/>
                </a:solidFill>
                <a:latin typeface="Tahoma"/>
                <a:cs typeface="Tahoma"/>
              </a:rPr>
              <a:t>Series </a:t>
            </a:r>
            <a:r>
              <a:rPr dirty="0" sz="2200" spc="-60" b="1">
                <a:solidFill>
                  <a:srgbClr val="272424"/>
                </a:solidFill>
                <a:latin typeface="Tahoma"/>
                <a:cs typeface="Tahoma"/>
              </a:rPr>
              <a:t>Forecasting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200"/>
              </a:lnSpc>
              <a:spcBef>
                <a:spcPts val="935"/>
              </a:spcBef>
            </a:pP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Prophet-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powered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forecasting</a:t>
            </a:r>
            <a:r>
              <a:rPr dirty="0" sz="17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predicts</a:t>
            </a:r>
            <a:r>
              <a:rPr dirty="0" sz="17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churn probability</a:t>
            </a:r>
            <a:r>
              <a:rPr dirty="0" sz="17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rolling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25">
                <a:solidFill>
                  <a:srgbClr val="272424"/>
                </a:solidFill>
                <a:latin typeface="Tahoma"/>
                <a:cs typeface="Tahoma"/>
              </a:rPr>
              <a:t>90- </a:t>
            </a: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day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horizon,</a:t>
            </a:r>
            <a:r>
              <a:rPr dirty="0" sz="17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enabling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proactive</a:t>
            </a:r>
            <a:r>
              <a:rPr dirty="0" sz="1750" spc="-10">
                <a:solidFill>
                  <a:srgbClr val="272424"/>
                </a:solidFill>
                <a:latin typeface="Tahoma"/>
                <a:cs typeface="Tahoma"/>
              </a:rPr>
              <a:t> retention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campaigns.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5340" y="2662745"/>
            <a:ext cx="1767713" cy="109251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113021" y="4014597"/>
            <a:ext cx="2959100" cy="2322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200" spc="-80" b="1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dirty="0" sz="2200" spc="-65" b="1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dirty="0" sz="220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25" b="1">
                <a:solidFill>
                  <a:srgbClr val="272424"/>
                </a:solidFill>
                <a:latin typeface="Tahoma"/>
                <a:cs typeface="Tahoma"/>
              </a:rPr>
              <a:t>API</a:t>
            </a:r>
            <a:endParaRPr sz="22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745"/>
              </a:spcBef>
            </a:pPr>
            <a:r>
              <a:rPr dirty="0" sz="1750" spc="105">
                <a:solidFill>
                  <a:srgbClr val="272424"/>
                </a:solidFill>
                <a:latin typeface="Tahoma"/>
                <a:cs typeface="Tahoma"/>
              </a:rPr>
              <a:t>Sub-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100ms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 REST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API</a:t>
            </a:r>
            <a:endParaRPr sz="1750">
              <a:latin typeface="Tahoma"/>
              <a:cs typeface="Tahoma"/>
            </a:endParaRPr>
          </a:p>
          <a:p>
            <a:pPr algn="just" marL="12700" marR="5080">
              <a:lnSpc>
                <a:spcPct val="138100"/>
              </a:lnSpc>
              <a:spcBef>
                <a:spcPts val="5"/>
              </a:spcBef>
            </a:pP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endpoints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deliver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live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churn </a:t>
            </a: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scores,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272424"/>
                </a:solidFill>
                <a:latin typeface="Tahoma"/>
                <a:cs typeface="Tahoma"/>
              </a:rPr>
              <a:t>tiers,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feature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explanations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on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demand.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6931" y="2662745"/>
            <a:ext cx="1767839" cy="109251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444867" y="4014597"/>
            <a:ext cx="3013710" cy="2322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60" b="1">
                <a:solidFill>
                  <a:srgbClr val="272424"/>
                </a:solidFill>
                <a:latin typeface="Tahoma"/>
                <a:cs typeface="Tahoma"/>
              </a:rPr>
              <a:t>Analytics</a:t>
            </a:r>
            <a:r>
              <a:rPr dirty="0" sz="2200" spc="-8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272424"/>
                </a:solidFill>
                <a:latin typeface="Tahoma"/>
                <a:cs typeface="Tahoma"/>
              </a:rPr>
              <a:t>Dashboard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200"/>
              </a:lnSpc>
              <a:spcBef>
                <a:spcPts val="940"/>
              </a:spcBef>
            </a:pP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Segment-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level</a:t>
            </a:r>
            <a:r>
              <a:rPr dirty="0" sz="17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dashboards </a:t>
            </a:r>
            <a:r>
              <a:rPr dirty="0" sz="1750" spc="85">
                <a:solidFill>
                  <a:srgbClr val="272424"/>
                </a:solidFill>
                <a:latin typeface="Tahoma"/>
                <a:cs typeface="Tahoma"/>
              </a:rPr>
              <a:t>surface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drivers,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cohort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trends,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customer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health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10">
                <a:solidFill>
                  <a:srgbClr val="272424"/>
                </a:solidFill>
                <a:latin typeface="Tahoma"/>
                <a:cs typeface="Tahoma"/>
              </a:rPr>
              <a:t>scores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single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view.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8522" y="2662745"/>
            <a:ext cx="1767840" cy="109251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0776966" y="4014597"/>
            <a:ext cx="2981960" cy="2322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30" b="1">
                <a:solidFill>
                  <a:srgbClr val="272424"/>
                </a:solidFill>
                <a:latin typeface="Tahoma"/>
                <a:cs typeface="Tahoma"/>
              </a:rPr>
              <a:t>Model</a:t>
            </a:r>
            <a:r>
              <a:rPr dirty="0" sz="220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200"/>
              </a:lnSpc>
              <a:spcBef>
                <a:spcPts val="940"/>
              </a:spcBef>
            </a:pPr>
            <a:r>
              <a:rPr dirty="0" sz="1750" spc="110">
                <a:solidFill>
                  <a:srgbClr val="272424"/>
                </a:solidFill>
                <a:latin typeface="Tahoma"/>
                <a:cs typeface="Tahoma"/>
              </a:rPr>
              <a:t>MLflow-</a:t>
            </a:r>
            <a:r>
              <a:rPr dirty="0" sz="1750" spc="95">
                <a:solidFill>
                  <a:srgbClr val="272424"/>
                </a:solidFill>
                <a:latin typeface="Tahoma"/>
                <a:cs typeface="Tahoma"/>
              </a:rPr>
              <a:t>backed</a:t>
            </a:r>
            <a:r>
              <a:rPr dirty="0" sz="17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model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registry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0">
                <a:solidFill>
                  <a:srgbClr val="272424"/>
                </a:solidFill>
                <a:latin typeface="Tahoma"/>
                <a:cs typeface="Tahoma"/>
              </a:rPr>
              <a:t>automated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retraining,</a:t>
            </a:r>
            <a:r>
              <a:rPr dirty="0" sz="1750" spc="2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A/B</a:t>
            </a:r>
            <a:r>
              <a:rPr dirty="0" sz="1750" spc="1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testing,</a:t>
            </a:r>
            <a:r>
              <a:rPr dirty="0" sz="1750" spc="1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drift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alerts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272424"/>
                </a:solidFill>
                <a:latin typeface="Tahoma"/>
                <a:cs typeface="Tahoma"/>
              </a:rPr>
              <a:t>keep</a:t>
            </a:r>
            <a:r>
              <a:rPr dirty="0" sz="17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accuracy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sharp.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388982" y="6252845"/>
            <a:ext cx="5241925" cy="1976755"/>
            <a:chOff x="9388982" y="6252845"/>
            <a:chExt cx="5241925" cy="1976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7157" y="7342300"/>
              <a:ext cx="2063242" cy="88729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400412" y="6264275"/>
              <a:ext cx="3905250" cy="1479550"/>
            </a:xfrm>
            <a:custGeom>
              <a:avLst/>
              <a:gdLst/>
              <a:ahLst/>
              <a:cxnLst/>
              <a:rect l="l" t="t" r="r" b="b"/>
              <a:pathLst>
                <a:path w="3905250" h="1479550">
                  <a:moveTo>
                    <a:pt x="3832098" y="0"/>
                  </a:moveTo>
                  <a:lnTo>
                    <a:pt x="73025" y="0"/>
                  </a:lnTo>
                  <a:lnTo>
                    <a:pt x="44576" y="5728"/>
                  </a:lnTo>
                  <a:lnTo>
                    <a:pt x="21367" y="21351"/>
                  </a:lnTo>
                  <a:lnTo>
                    <a:pt x="5730" y="44523"/>
                  </a:lnTo>
                  <a:lnTo>
                    <a:pt x="0" y="72898"/>
                  </a:lnTo>
                  <a:lnTo>
                    <a:pt x="0" y="1406309"/>
                  </a:lnTo>
                  <a:lnTo>
                    <a:pt x="5730" y="1434693"/>
                  </a:lnTo>
                  <a:lnTo>
                    <a:pt x="21367" y="1457872"/>
                  </a:lnTo>
                  <a:lnTo>
                    <a:pt x="44576" y="1473501"/>
                  </a:lnTo>
                  <a:lnTo>
                    <a:pt x="73025" y="1479232"/>
                  </a:lnTo>
                  <a:lnTo>
                    <a:pt x="3832098" y="1479232"/>
                  </a:lnTo>
                  <a:lnTo>
                    <a:pt x="3860492" y="1473501"/>
                  </a:lnTo>
                  <a:lnTo>
                    <a:pt x="3883707" y="1457872"/>
                  </a:lnTo>
                  <a:lnTo>
                    <a:pt x="3899374" y="1434693"/>
                  </a:lnTo>
                  <a:lnTo>
                    <a:pt x="3905123" y="1406309"/>
                  </a:lnTo>
                  <a:lnTo>
                    <a:pt x="3905123" y="72898"/>
                  </a:lnTo>
                  <a:lnTo>
                    <a:pt x="3899374" y="44523"/>
                  </a:lnTo>
                  <a:lnTo>
                    <a:pt x="3883707" y="21351"/>
                  </a:lnTo>
                  <a:lnTo>
                    <a:pt x="3860492" y="5728"/>
                  </a:lnTo>
                  <a:lnTo>
                    <a:pt x="38320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400412" y="6264275"/>
              <a:ext cx="3905250" cy="1479550"/>
            </a:xfrm>
            <a:custGeom>
              <a:avLst/>
              <a:gdLst/>
              <a:ahLst/>
              <a:cxnLst/>
              <a:rect l="l" t="t" r="r" b="b"/>
              <a:pathLst>
                <a:path w="3905250" h="1479550">
                  <a:moveTo>
                    <a:pt x="0" y="72898"/>
                  </a:moveTo>
                  <a:lnTo>
                    <a:pt x="5730" y="44523"/>
                  </a:lnTo>
                  <a:lnTo>
                    <a:pt x="21367" y="21351"/>
                  </a:lnTo>
                  <a:lnTo>
                    <a:pt x="44576" y="5728"/>
                  </a:lnTo>
                  <a:lnTo>
                    <a:pt x="73025" y="0"/>
                  </a:lnTo>
                  <a:lnTo>
                    <a:pt x="3832098" y="0"/>
                  </a:lnTo>
                  <a:lnTo>
                    <a:pt x="3860492" y="5728"/>
                  </a:lnTo>
                  <a:lnTo>
                    <a:pt x="3883707" y="21351"/>
                  </a:lnTo>
                  <a:lnTo>
                    <a:pt x="3899374" y="44523"/>
                  </a:lnTo>
                  <a:lnTo>
                    <a:pt x="3905123" y="72898"/>
                  </a:lnTo>
                  <a:lnTo>
                    <a:pt x="3905123" y="1406309"/>
                  </a:lnTo>
                  <a:lnTo>
                    <a:pt x="3899374" y="1434693"/>
                  </a:lnTo>
                  <a:lnTo>
                    <a:pt x="3883707" y="1457872"/>
                  </a:lnTo>
                  <a:lnTo>
                    <a:pt x="3860492" y="1473501"/>
                  </a:lnTo>
                  <a:lnTo>
                    <a:pt x="3832098" y="1479232"/>
                  </a:lnTo>
                  <a:lnTo>
                    <a:pt x="73025" y="1479232"/>
                  </a:lnTo>
                  <a:lnTo>
                    <a:pt x="44576" y="1473501"/>
                  </a:lnTo>
                  <a:lnTo>
                    <a:pt x="21367" y="1457872"/>
                  </a:lnTo>
                  <a:lnTo>
                    <a:pt x="5730" y="1434693"/>
                  </a:lnTo>
                  <a:lnTo>
                    <a:pt x="0" y="1406309"/>
                  </a:lnTo>
                  <a:lnTo>
                    <a:pt x="0" y="72898"/>
                  </a:lnTo>
                  <a:close/>
                </a:path>
              </a:pathLst>
            </a:custGeom>
            <a:ln w="22859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12291" y="426410"/>
            <a:ext cx="5683250" cy="893444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700" spc="-60"/>
              <a:t>Why</a:t>
            </a:r>
            <a:r>
              <a:rPr dirty="0" sz="1700" spc="-50"/>
              <a:t> </a:t>
            </a:r>
            <a:r>
              <a:rPr dirty="0" sz="1700" spc="-265"/>
              <a:t>It</a:t>
            </a:r>
            <a:r>
              <a:rPr dirty="0" sz="1700" spc="-20"/>
              <a:t> </a:t>
            </a:r>
            <a:r>
              <a:rPr dirty="0" sz="1700" spc="-10"/>
              <a:t>Matters</a:t>
            </a:r>
            <a:endParaRPr sz="1700"/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3400" spc="-55"/>
              <a:t>Model</a:t>
            </a:r>
            <a:r>
              <a:rPr dirty="0" sz="3400" spc="-90"/>
              <a:t> </a:t>
            </a:r>
            <a:r>
              <a:rPr dirty="0" sz="3400" spc="-165"/>
              <a:t>Explainability</a:t>
            </a:r>
            <a:r>
              <a:rPr dirty="0" sz="3400" spc="-80"/>
              <a:t> </a:t>
            </a:r>
            <a:r>
              <a:rPr dirty="0" sz="3400" spc="-480"/>
              <a:t>&amp;</a:t>
            </a:r>
            <a:r>
              <a:rPr dirty="0" sz="3400" spc="-35"/>
              <a:t> </a:t>
            </a:r>
            <a:r>
              <a:rPr dirty="0" sz="3400" spc="-45"/>
              <a:t>Trust</a:t>
            </a:r>
            <a:endParaRPr sz="34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4863" y="1701800"/>
            <a:ext cx="7631433" cy="426364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383394" y="3306216"/>
            <a:ext cx="3703320" cy="990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5"/>
              </a:spcBef>
            </a:pP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Stakeholder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 trust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critical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adoption.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platform</a:t>
            </a:r>
            <a:r>
              <a:rPr dirty="0" sz="1350" spc="1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integrates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SHAP</a:t>
            </a:r>
            <a:r>
              <a:rPr dirty="0" sz="1350" spc="1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(SHapley</a:t>
            </a:r>
            <a:r>
              <a:rPr dirty="0" sz="1350" spc="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 b="1">
                <a:solidFill>
                  <a:srgbClr val="272424"/>
                </a:solidFill>
                <a:latin typeface="Tahoma"/>
                <a:cs typeface="Tahoma"/>
              </a:rPr>
              <a:t>Additive 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exPlanations)</a:t>
            </a:r>
            <a:r>
              <a:rPr dirty="0" sz="1350" spc="-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make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every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3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prediction 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transparent</a:t>
            </a: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114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auditable.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324863" y="6264275"/>
            <a:ext cx="3905250" cy="1479550"/>
          </a:xfrm>
          <a:custGeom>
            <a:avLst/>
            <a:gdLst/>
            <a:ahLst/>
            <a:cxnLst/>
            <a:rect l="l" t="t" r="r" b="b"/>
            <a:pathLst>
              <a:path w="3905250" h="1479550">
                <a:moveTo>
                  <a:pt x="0" y="72898"/>
                </a:moveTo>
                <a:lnTo>
                  <a:pt x="5728" y="44523"/>
                </a:lnTo>
                <a:lnTo>
                  <a:pt x="21351" y="21351"/>
                </a:lnTo>
                <a:lnTo>
                  <a:pt x="44523" y="5728"/>
                </a:lnTo>
                <a:lnTo>
                  <a:pt x="72898" y="0"/>
                </a:lnTo>
                <a:lnTo>
                  <a:pt x="3831971" y="0"/>
                </a:lnTo>
                <a:lnTo>
                  <a:pt x="3860345" y="5728"/>
                </a:lnTo>
                <a:lnTo>
                  <a:pt x="3883517" y="21351"/>
                </a:lnTo>
                <a:lnTo>
                  <a:pt x="3899140" y="44523"/>
                </a:lnTo>
                <a:lnTo>
                  <a:pt x="3904869" y="72898"/>
                </a:lnTo>
                <a:lnTo>
                  <a:pt x="3904869" y="1406270"/>
                </a:lnTo>
                <a:lnTo>
                  <a:pt x="3899140" y="1434654"/>
                </a:lnTo>
                <a:lnTo>
                  <a:pt x="3883517" y="1457834"/>
                </a:lnTo>
                <a:lnTo>
                  <a:pt x="3860345" y="1473463"/>
                </a:lnTo>
                <a:lnTo>
                  <a:pt x="3831971" y="1479194"/>
                </a:lnTo>
                <a:lnTo>
                  <a:pt x="72898" y="1479194"/>
                </a:lnTo>
                <a:lnTo>
                  <a:pt x="44523" y="1473463"/>
                </a:lnTo>
                <a:lnTo>
                  <a:pt x="21351" y="1457834"/>
                </a:lnTo>
                <a:lnTo>
                  <a:pt x="5728" y="1434654"/>
                </a:lnTo>
                <a:lnTo>
                  <a:pt x="0" y="1406270"/>
                </a:lnTo>
                <a:lnTo>
                  <a:pt x="0" y="72898"/>
                </a:lnTo>
                <a:close/>
              </a:path>
            </a:pathLst>
          </a:custGeom>
          <a:ln w="22860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508886" y="6285405"/>
            <a:ext cx="3517900" cy="123761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700" spc="-70" b="1">
                <a:solidFill>
                  <a:srgbClr val="272424"/>
                </a:solidFill>
                <a:latin typeface="Tahoma"/>
                <a:cs typeface="Tahoma"/>
              </a:rPr>
              <a:t>Feature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 Importance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7000"/>
              </a:lnSpc>
              <a:spcBef>
                <a:spcPts val="655"/>
              </a:spcBef>
            </a:pP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Understand</a:t>
            </a:r>
            <a:r>
              <a:rPr dirty="0" sz="1350" spc="-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which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signals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usage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drop,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support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tickets,</a:t>
            </a:r>
            <a:r>
              <a:rPr dirty="0" sz="1350" spc="-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billing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events</a:t>
            </a:r>
            <a:r>
              <a:rPr dirty="0" sz="13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drive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each </a:t>
            </a:r>
            <a:r>
              <a:rPr dirty="0" sz="1350" spc="70">
                <a:solidFill>
                  <a:srgbClr val="272424"/>
                </a:solidFill>
                <a:latin typeface="Tahoma"/>
                <a:cs typeface="Tahoma"/>
              </a:rPr>
              <a:t>customer's</a:t>
            </a:r>
            <a:r>
              <a:rPr dirty="0" sz="1350" spc="-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3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Tahoma"/>
                <a:cs typeface="Tahoma"/>
              </a:rPr>
              <a:t>risk.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362575" y="6264275"/>
            <a:ext cx="3905250" cy="1479550"/>
          </a:xfrm>
          <a:custGeom>
            <a:avLst/>
            <a:gdLst/>
            <a:ahLst/>
            <a:cxnLst/>
            <a:rect l="l" t="t" r="r" b="b"/>
            <a:pathLst>
              <a:path w="3905250" h="1479550">
                <a:moveTo>
                  <a:pt x="0" y="72898"/>
                </a:moveTo>
                <a:lnTo>
                  <a:pt x="5728" y="44523"/>
                </a:lnTo>
                <a:lnTo>
                  <a:pt x="21351" y="21351"/>
                </a:lnTo>
                <a:lnTo>
                  <a:pt x="44523" y="5728"/>
                </a:lnTo>
                <a:lnTo>
                  <a:pt x="72898" y="0"/>
                </a:lnTo>
                <a:lnTo>
                  <a:pt x="3832098" y="0"/>
                </a:lnTo>
                <a:lnTo>
                  <a:pt x="3860472" y="5728"/>
                </a:lnTo>
                <a:lnTo>
                  <a:pt x="3883644" y="21351"/>
                </a:lnTo>
                <a:lnTo>
                  <a:pt x="3899267" y="44523"/>
                </a:lnTo>
                <a:lnTo>
                  <a:pt x="3904996" y="72898"/>
                </a:lnTo>
                <a:lnTo>
                  <a:pt x="3904996" y="1406309"/>
                </a:lnTo>
                <a:lnTo>
                  <a:pt x="3899267" y="1434693"/>
                </a:lnTo>
                <a:lnTo>
                  <a:pt x="3883644" y="1457872"/>
                </a:lnTo>
                <a:lnTo>
                  <a:pt x="3860472" y="1473501"/>
                </a:lnTo>
                <a:lnTo>
                  <a:pt x="3832098" y="1479232"/>
                </a:lnTo>
                <a:lnTo>
                  <a:pt x="72898" y="1479232"/>
                </a:lnTo>
                <a:lnTo>
                  <a:pt x="44523" y="1473501"/>
                </a:lnTo>
                <a:lnTo>
                  <a:pt x="21351" y="1457872"/>
                </a:lnTo>
                <a:lnTo>
                  <a:pt x="5728" y="1434693"/>
                </a:lnTo>
                <a:lnTo>
                  <a:pt x="0" y="1406309"/>
                </a:lnTo>
                <a:lnTo>
                  <a:pt x="0" y="72898"/>
                </a:lnTo>
                <a:close/>
              </a:path>
            </a:pathLst>
          </a:custGeom>
          <a:ln w="22859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546852" y="6285405"/>
            <a:ext cx="3438525" cy="123761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700" spc="-105" b="1">
                <a:solidFill>
                  <a:srgbClr val="272424"/>
                </a:solidFill>
                <a:latin typeface="Tahoma"/>
                <a:cs typeface="Tahoma"/>
              </a:rPr>
              <a:t>Individual</a:t>
            </a:r>
            <a:r>
              <a:rPr dirty="0" sz="1700" spc="-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Explanations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7000"/>
              </a:lnSpc>
              <a:spcBef>
                <a:spcPts val="655"/>
              </a:spcBef>
            </a:pPr>
            <a:r>
              <a:rPr dirty="0" sz="1350" spc="85">
                <a:solidFill>
                  <a:srgbClr val="272424"/>
                </a:solidFill>
                <a:latin typeface="Tahoma"/>
                <a:cs typeface="Tahoma"/>
              </a:rPr>
              <a:t>Per-</a:t>
            </a:r>
            <a:r>
              <a:rPr dirty="0" sz="1350" spc="60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110">
                <a:solidFill>
                  <a:srgbClr val="272424"/>
                </a:solidFill>
                <a:latin typeface="Tahoma"/>
                <a:cs typeface="Tahoma"/>
              </a:rPr>
              <a:t>SHAP</a:t>
            </a:r>
            <a:r>
              <a:rPr dirty="0" sz="13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waterfall</a:t>
            </a:r>
            <a:r>
              <a:rPr dirty="0" sz="13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charts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give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your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retention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 context</a:t>
            </a:r>
            <a:r>
              <a:rPr dirty="0" sz="13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needed</a:t>
            </a:r>
            <a:r>
              <a:rPr dirty="0" sz="13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personalise</a:t>
            </a:r>
            <a:r>
              <a:rPr dirty="0" sz="13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outreach.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585197" y="6285405"/>
            <a:ext cx="3404235" cy="123761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700" spc="-80" b="1">
                <a:solidFill>
                  <a:srgbClr val="272424"/>
                </a:solidFill>
                <a:latin typeface="Tahoma"/>
                <a:cs typeface="Tahoma"/>
              </a:rPr>
              <a:t>Regulatory</a:t>
            </a:r>
            <a:r>
              <a:rPr dirty="0" sz="1700" spc="-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Readiness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7000"/>
              </a:lnSpc>
              <a:spcBef>
                <a:spcPts val="655"/>
              </a:spcBef>
            </a:pP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Explainability</a:t>
            </a:r>
            <a:r>
              <a:rPr dirty="0" sz="135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272424"/>
                </a:solidFill>
                <a:latin typeface="Tahoma"/>
                <a:cs typeface="Tahoma"/>
              </a:rPr>
              <a:t>outputs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support</a:t>
            </a:r>
            <a:r>
              <a:rPr dirty="0" sz="1350" spc="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compliance 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requirements</a:t>
            </a:r>
            <a:r>
              <a:rPr dirty="0" sz="13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3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dirty="0" sz="13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audit</a:t>
            </a:r>
            <a:r>
              <a:rPr dirty="0" sz="13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trails</a:t>
            </a:r>
            <a:r>
              <a:rPr dirty="0" sz="1350" spc="-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72424"/>
                </a:solidFill>
                <a:latin typeface="Tahoma"/>
                <a:cs typeface="Tahoma"/>
              </a:rPr>
              <a:t>for </a:t>
            </a:r>
            <a:r>
              <a:rPr dirty="0" sz="1350" spc="65">
                <a:solidFill>
                  <a:srgbClr val="272424"/>
                </a:solidFill>
                <a:latin typeface="Tahoma"/>
                <a:cs typeface="Tahoma"/>
              </a:rPr>
              <a:t>model-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driven</a:t>
            </a:r>
            <a:r>
              <a:rPr dirty="0" sz="1350" spc="-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424"/>
                </a:solidFill>
                <a:latin typeface="Tahoma"/>
                <a:cs typeface="Tahoma"/>
              </a:rPr>
              <a:t>decisions.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-1"/>
            <a:ext cx="91440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2284602"/>
            <a:ext cx="3183890" cy="141605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dirty="0" sz="4450" spc="-105"/>
              <a:t>Churn</a:t>
            </a:r>
            <a:r>
              <a:rPr dirty="0" sz="4450" spc="-210"/>
              <a:t> </a:t>
            </a:r>
            <a:r>
              <a:rPr dirty="0" sz="4450" spc="-20"/>
              <a:t>Rate </a:t>
            </a:r>
            <a:r>
              <a:rPr dirty="0" sz="4450" spc="-95"/>
              <a:t>Time</a:t>
            </a:r>
            <a:r>
              <a:rPr dirty="0" sz="4450" spc="-225"/>
              <a:t> </a:t>
            </a:r>
            <a:r>
              <a:rPr dirty="0" sz="4450" spc="-80"/>
              <a:t>Series</a:t>
            </a:r>
            <a:endParaRPr sz="4450"/>
          </a:p>
        </p:txBody>
      </p:sp>
      <p:sp>
        <p:nvSpPr>
          <p:cNvPr id="4" name="object 4" descr=""/>
          <p:cNvSpPr txBox="1"/>
          <p:nvPr/>
        </p:nvSpPr>
        <p:spPr>
          <a:xfrm>
            <a:off x="781304" y="4025696"/>
            <a:ext cx="3842385" cy="1868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200"/>
              </a:lnSpc>
              <a:spcBef>
                <a:spcPts val="100"/>
              </a:spcBef>
            </a:pP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This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chart</a:t>
            </a:r>
            <a:r>
              <a:rPr dirty="0" sz="175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10">
                <a:solidFill>
                  <a:srgbClr val="272424"/>
                </a:solidFill>
                <a:latin typeface="Tahoma"/>
                <a:cs typeface="Tahoma"/>
              </a:rPr>
              <a:t>shows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actual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churn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rate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trend</a:t>
            </a:r>
            <a:r>
              <a:rPr dirty="0" sz="17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7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7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272424"/>
                </a:solidFill>
                <a:latin typeface="Tahoma"/>
                <a:cs typeface="Tahoma"/>
              </a:rPr>
              <a:t>trend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line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overlay,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demonstrating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0">
                <a:solidFill>
                  <a:srgbClr val="272424"/>
                </a:solidFill>
                <a:latin typeface="Tahoma"/>
                <a:cs typeface="Tahoma"/>
              </a:rPr>
              <a:t>how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churn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patterns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evolve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272424"/>
                </a:solidFill>
                <a:latin typeface="Tahoma"/>
                <a:cs typeface="Tahoma"/>
              </a:rPr>
              <a:t>can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be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forecasted.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7920" y="7127632"/>
            <a:ext cx="2562479" cy="110196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374773" y="1184858"/>
            <a:ext cx="228917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ahoma"/>
                <a:cs typeface="Tahoma"/>
              </a:rPr>
              <a:t>Up</a:t>
            </a:r>
            <a:r>
              <a:rPr dirty="0" sz="1400" spc="-20" b="1">
                <a:latin typeface="Tahoma"/>
                <a:cs typeface="Tahoma"/>
              </a:rPr>
              <a:t> </a:t>
            </a:r>
            <a:r>
              <a:rPr dirty="0" sz="1400" spc="-40" b="1">
                <a:latin typeface="Tahoma"/>
                <a:cs typeface="Tahoma"/>
              </a:rPr>
              <a:t>and </a:t>
            </a:r>
            <a:r>
              <a:rPr dirty="0" sz="1400" spc="-80" b="1">
                <a:latin typeface="Tahoma"/>
                <a:cs typeface="Tahoma"/>
              </a:rPr>
              <a:t>Running</a:t>
            </a:r>
            <a:r>
              <a:rPr dirty="0" sz="1400" spc="-30" b="1">
                <a:latin typeface="Tahoma"/>
                <a:cs typeface="Tahoma"/>
              </a:rPr>
              <a:t> </a:t>
            </a:r>
            <a:r>
              <a:rPr dirty="0" sz="1400" spc="-80" b="1">
                <a:latin typeface="Tahoma"/>
                <a:cs typeface="Tahoma"/>
              </a:rPr>
              <a:t>in</a:t>
            </a:r>
            <a:r>
              <a:rPr dirty="0" sz="1400" spc="-30" b="1">
                <a:latin typeface="Tahoma"/>
                <a:cs typeface="Tahoma"/>
              </a:rPr>
              <a:t> </a:t>
            </a:r>
            <a:r>
              <a:rPr dirty="0" sz="1400" spc="-35" b="1">
                <a:latin typeface="Tahoma"/>
                <a:cs typeface="Tahoma"/>
              </a:rPr>
              <a:t>Minutes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74773" y="1429258"/>
            <a:ext cx="25647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35"/>
              <a:t>Getting</a:t>
            </a:r>
            <a:r>
              <a:rPr dirty="0" sz="2800" spc="-40"/>
              <a:t> </a:t>
            </a:r>
            <a:r>
              <a:rPr dirty="0" sz="2800" spc="-105"/>
              <a:t>Started</a:t>
            </a:r>
            <a:endParaRPr sz="2800"/>
          </a:p>
        </p:txBody>
      </p:sp>
      <p:sp>
        <p:nvSpPr>
          <p:cNvPr id="5" name="object 5" descr=""/>
          <p:cNvSpPr txBox="1"/>
          <p:nvPr/>
        </p:nvSpPr>
        <p:spPr>
          <a:xfrm>
            <a:off x="2374773" y="2136139"/>
            <a:ext cx="16891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72424"/>
                </a:solidFill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387219" y="2372614"/>
            <a:ext cx="4754245" cy="15240"/>
          </a:xfrm>
          <a:custGeom>
            <a:avLst/>
            <a:gdLst/>
            <a:ahLst/>
            <a:cxnLst/>
            <a:rect l="l" t="t" r="r" b="b"/>
            <a:pathLst>
              <a:path w="4754245" h="15239">
                <a:moveTo>
                  <a:pt x="4753863" y="0"/>
                </a:moveTo>
                <a:lnTo>
                  <a:pt x="0" y="0"/>
                </a:lnTo>
                <a:lnTo>
                  <a:pt x="0" y="15239"/>
                </a:lnTo>
                <a:lnTo>
                  <a:pt x="4753863" y="15239"/>
                </a:lnTo>
                <a:lnTo>
                  <a:pt x="4753863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374773" y="2456180"/>
            <a:ext cx="2020570" cy="516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272424"/>
                </a:solidFill>
                <a:latin typeface="Tahoma"/>
                <a:cs typeface="Tahoma"/>
              </a:rPr>
              <a:t>Clone</a:t>
            </a:r>
            <a:r>
              <a:rPr dirty="0" sz="1400" spc="-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204" b="1">
                <a:solidFill>
                  <a:srgbClr val="272424"/>
                </a:solidFill>
                <a:latin typeface="Tahoma"/>
                <a:cs typeface="Tahoma"/>
              </a:rPr>
              <a:t>&amp;</a:t>
            </a:r>
            <a:r>
              <a:rPr dirty="0" sz="1400" spc="-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272424"/>
                </a:solidFill>
                <a:latin typeface="Tahoma"/>
                <a:cs typeface="Tahoma"/>
              </a:rPr>
              <a:t>Configure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100" spc="55">
                <a:solidFill>
                  <a:srgbClr val="272424"/>
                </a:solidFill>
                <a:latin typeface="Tahoma"/>
                <a:cs typeface="Tahoma"/>
              </a:rPr>
              <a:t>Clone</a:t>
            </a:r>
            <a:r>
              <a:rPr dirty="0" sz="11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repository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 copy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544946" y="2795142"/>
            <a:ext cx="309880" cy="172720"/>
          </a:xfrm>
          <a:custGeom>
            <a:avLst/>
            <a:gdLst/>
            <a:ahLst/>
            <a:cxnLst/>
            <a:rect l="l" t="t" r="r" b="b"/>
            <a:pathLst>
              <a:path w="309879" h="172719">
                <a:moveTo>
                  <a:pt x="309372" y="0"/>
                </a:moveTo>
                <a:lnTo>
                  <a:pt x="0" y="0"/>
                </a:lnTo>
                <a:lnTo>
                  <a:pt x="0" y="172212"/>
                </a:lnTo>
                <a:lnTo>
                  <a:pt x="309372" y="172212"/>
                </a:lnTo>
                <a:lnTo>
                  <a:pt x="3093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420234" y="2795142"/>
            <a:ext cx="932180" cy="1727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90"/>
              </a:lnSpc>
            </a:pPr>
            <a:r>
              <a:rPr dirty="0" sz="1100" spc="-10">
                <a:solidFill>
                  <a:srgbClr val="272424"/>
                </a:solidFill>
                <a:latin typeface="Consolas"/>
                <a:cs typeface="Consolas"/>
              </a:rPr>
              <a:t>.env.example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62194" y="2778379"/>
            <a:ext cx="178181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Consolas"/>
                <a:cs typeface="Consolas"/>
              </a:rPr>
              <a:t>.env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z="110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Set</a:t>
            </a:r>
            <a:r>
              <a:rPr dirty="0" sz="11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your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35">
                <a:solidFill>
                  <a:srgbClr val="272424"/>
                </a:solidFill>
                <a:latin typeface="Tahoma"/>
                <a:cs typeface="Tahoma"/>
              </a:rPr>
              <a:t>database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374773" y="2968879"/>
            <a:ext cx="248602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credentials,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Redis</a:t>
            </a:r>
            <a:r>
              <a:rPr dirty="0" sz="11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URL,</a:t>
            </a:r>
            <a:r>
              <a:rPr dirty="0" sz="1100" spc="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API</a:t>
            </a:r>
            <a:r>
              <a:rPr dirty="0" sz="1100" spc="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272424"/>
                </a:solidFill>
                <a:latin typeface="Tahoma"/>
                <a:cs typeface="Tahoma"/>
              </a:rPr>
              <a:t>keys.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374773" y="3355035"/>
            <a:ext cx="16891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72424"/>
                </a:solidFill>
                <a:latin typeface="Calibri"/>
                <a:cs typeface="Calibri"/>
              </a:rPr>
              <a:t>02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387219" y="3591814"/>
            <a:ext cx="4754245" cy="15240"/>
          </a:xfrm>
          <a:custGeom>
            <a:avLst/>
            <a:gdLst/>
            <a:ahLst/>
            <a:cxnLst/>
            <a:rect l="l" t="t" r="r" b="b"/>
            <a:pathLst>
              <a:path w="4754245" h="15239">
                <a:moveTo>
                  <a:pt x="4753863" y="0"/>
                </a:moveTo>
                <a:lnTo>
                  <a:pt x="0" y="0"/>
                </a:lnTo>
                <a:lnTo>
                  <a:pt x="0" y="15239"/>
                </a:lnTo>
                <a:lnTo>
                  <a:pt x="4753863" y="15239"/>
                </a:lnTo>
                <a:lnTo>
                  <a:pt x="4753863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374773" y="3675379"/>
            <a:ext cx="17030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5" b="1">
                <a:solidFill>
                  <a:srgbClr val="272424"/>
                </a:solidFill>
                <a:latin typeface="Tahoma"/>
                <a:cs typeface="Tahoma"/>
              </a:rPr>
              <a:t>Launch</a:t>
            </a:r>
            <a:r>
              <a:rPr dirty="0" sz="1400" spc="-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100" b="1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400" spc="-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272424"/>
                </a:solidFill>
                <a:latin typeface="Tahoma"/>
                <a:cs typeface="Tahoma"/>
              </a:rPr>
              <a:t>Docker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374773" y="3997832"/>
            <a:ext cx="28067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72424"/>
                </a:solidFill>
                <a:latin typeface="Tahoma"/>
                <a:cs typeface="Tahoma"/>
              </a:rPr>
              <a:t>Run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682875" y="4014342"/>
            <a:ext cx="1922780" cy="1727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95"/>
              </a:lnSpc>
            </a:pPr>
            <a:r>
              <a:rPr dirty="0" sz="1100">
                <a:solidFill>
                  <a:srgbClr val="272424"/>
                </a:solidFill>
                <a:latin typeface="Consolas"/>
                <a:cs typeface="Consolas"/>
              </a:rPr>
              <a:t>docker-compose</a:t>
            </a:r>
            <a:r>
              <a:rPr dirty="0" sz="1100" spc="-40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272424"/>
                </a:solidFill>
                <a:latin typeface="Consolas"/>
                <a:cs typeface="Consolas"/>
              </a:rPr>
              <a:t>up</a:t>
            </a:r>
            <a:r>
              <a:rPr dirty="0" sz="1100" spc="-15">
                <a:solidFill>
                  <a:srgbClr val="272424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272424"/>
                </a:solidFill>
                <a:latin typeface="Consolas"/>
                <a:cs typeface="Consolas"/>
              </a:rPr>
              <a:t>--</a:t>
            </a:r>
            <a:r>
              <a:rPr dirty="0" sz="1100" spc="-10">
                <a:solidFill>
                  <a:srgbClr val="272424"/>
                </a:solidFill>
                <a:latin typeface="Consolas"/>
                <a:cs typeface="Consolas"/>
              </a:rPr>
              <a:t>build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615053" y="3997832"/>
            <a:ext cx="218059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spin</a:t>
            </a:r>
            <a:r>
              <a:rPr dirty="0" sz="11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up all</a:t>
            </a:r>
            <a:r>
              <a:rPr dirty="0" sz="11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272424"/>
                </a:solidFill>
                <a:latin typeface="Tahoma"/>
                <a:cs typeface="Tahoma"/>
              </a:rPr>
              <a:t>services</a:t>
            </a:r>
            <a:r>
              <a:rPr dirty="0" sz="110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10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10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API,</a:t>
            </a:r>
            <a:r>
              <a:rPr dirty="0" sz="110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272424"/>
                </a:solidFill>
                <a:latin typeface="Tahoma"/>
                <a:cs typeface="Tahoma"/>
              </a:rPr>
              <a:t>ML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374773" y="4188332"/>
            <a:ext cx="36252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pipeline,</a:t>
            </a:r>
            <a:r>
              <a:rPr dirty="0" sz="1100" spc="1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Redis,</a:t>
            </a:r>
            <a:r>
              <a:rPr dirty="0" sz="1100" spc="9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272424"/>
                </a:solidFill>
                <a:latin typeface="Tahoma"/>
                <a:cs typeface="Tahoma"/>
              </a:rPr>
              <a:t>PostgreSQL,</a:t>
            </a:r>
            <a:r>
              <a:rPr dirty="0" sz="110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00" spc="1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00" spc="1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React</a:t>
            </a:r>
            <a:r>
              <a:rPr dirty="0" sz="1100" spc="10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72424"/>
                </a:solidFill>
                <a:latin typeface="Tahoma"/>
                <a:cs typeface="Tahoma"/>
              </a:rPr>
              <a:t>dashboard.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374773" y="4574794"/>
            <a:ext cx="16891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72424"/>
                </a:solidFill>
                <a:latin typeface="Calibri"/>
                <a:cs typeface="Calibri"/>
              </a:rPr>
              <a:t>03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2387219" y="4811014"/>
            <a:ext cx="4754245" cy="15240"/>
          </a:xfrm>
          <a:custGeom>
            <a:avLst/>
            <a:gdLst/>
            <a:ahLst/>
            <a:cxnLst/>
            <a:rect l="l" t="t" r="r" b="b"/>
            <a:pathLst>
              <a:path w="4754245" h="15239">
                <a:moveTo>
                  <a:pt x="4753863" y="0"/>
                </a:moveTo>
                <a:lnTo>
                  <a:pt x="0" y="0"/>
                </a:lnTo>
                <a:lnTo>
                  <a:pt x="0" y="15239"/>
                </a:lnTo>
                <a:lnTo>
                  <a:pt x="4753863" y="15239"/>
                </a:lnTo>
                <a:lnTo>
                  <a:pt x="4753863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387219" y="5424042"/>
            <a:ext cx="1071880" cy="172720"/>
          </a:xfrm>
          <a:custGeom>
            <a:avLst/>
            <a:gdLst/>
            <a:ahLst/>
            <a:cxnLst/>
            <a:rect l="l" t="t" r="r" b="b"/>
            <a:pathLst>
              <a:path w="1071879" h="172720">
                <a:moveTo>
                  <a:pt x="1071371" y="0"/>
                </a:moveTo>
                <a:lnTo>
                  <a:pt x="0" y="0"/>
                </a:lnTo>
                <a:lnTo>
                  <a:pt x="0" y="172211"/>
                </a:lnTo>
                <a:lnTo>
                  <a:pt x="1071371" y="172211"/>
                </a:lnTo>
                <a:lnTo>
                  <a:pt x="107137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2374773" y="4894834"/>
            <a:ext cx="4099560" cy="516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95" b="1">
                <a:solidFill>
                  <a:srgbClr val="272424"/>
                </a:solidFill>
                <a:latin typeface="Tahoma"/>
                <a:cs typeface="Tahoma"/>
              </a:rPr>
              <a:t>Ingest</a:t>
            </a:r>
            <a:r>
              <a:rPr dirty="0" sz="1400" spc="-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45" b="1">
                <a:solidFill>
                  <a:srgbClr val="272424"/>
                </a:solidFill>
                <a:latin typeface="Tahoma"/>
                <a:cs typeface="Tahoma"/>
              </a:rPr>
              <a:t>Your</a:t>
            </a:r>
            <a:r>
              <a:rPr dirty="0" sz="1400" spc="-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Upload</a:t>
            </a:r>
            <a:r>
              <a:rPr dirty="0" sz="11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historical</a:t>
            </a:r>
            <a:r>
              <a:rPr dirty="0" sz="11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1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10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via</a:t>
            </a:r>
            <a:r>
              <a:rPr dirty="0" sz="110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dashboard</a:t>
            </a:r>
            <a:r>
              <a:rPr dirty="0" sz="110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or</a:t>
            </a:r>
            <a:r>
              <a:rPr dirty="0" sz="11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272424"/>
                </a:solidFill>
                <a:latin typeface="Tahoma"/>
                <a:cs typeface="Tahoma"/>
              </a:rPr>
              <a:t>POST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374773" y="5407914"/>
            <a:ext cx="42621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272424"/>
                </a:solidFill>
                <a:latin typeface="Consolas"/>
                <a:cs typeface="Consolas"/>
              </a:rPr>
              <a:t>/api/v1/ingest</a:t>
            </a:r>
            <a:r>
              <a:rPr dirty="0" sz="1100" spc="-1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r>
              <a:rPr dirty="0" sz="1100" spc="1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100" spc="2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pipeline</a:t>
            </a:r>
            <a:r>
              <a:rPr dirty="0" sz="1100" spc="1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auto-triggers</a:t>
            </a:r>
            <a:r>
              <a:rPr dirty="0" sz="1100" spc="16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feature</a:t>
            </a:r>
            <a:r>
              <a:rPr dirty="0" sz="1100" spc="18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72424"/>
                </a:solidFill>
                <a:latin typeface="Tahoma"/>
                <a:cs typeface="Tahoma"/>
              </a:rPr>
              <a:t>engineering.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374773" y="5794375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272424"/>
                </a:solidFill>
                <a:latin typeface="Calibri"/>
                <a:cs typeface="Calibri"/>
              </a:rPr>
              <a:t>04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387219" y="6030214"/>
            <a:ext cx="4754245" cy="15240"/>
          </a:xfrm>
          <a:custGeom>
            <a:avLst/>
            <a:gdLst/>
            <a:ahLst/>
            <a:cxnLst/>
            <a:rect l="l" t="t" r="r" b="b"/>
            <a:pathLst>
              <a:path w="4754245" h="15239">
                <a:moveTo>
                  <a:pt x="4753863" y="0"/>
                </a:moveTo>
                <a:lnTo>
                  <a:pt x="0" y="0"/>
                </a:lnTo>
                <a:lnTo>
                  <a:pt x="0" y="15239"/>
                </a:lnTo>
                <a:lnTo>
                  <a:pt x="4753863" y="15239"/>
                </a:lnTo>
                <a:lnTo>
                  <a:pt x="4753863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374773" y="6114415"/>
            <a:ext cx="4638675" cy="706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5" b="1">
                <a:solidFill>
                  <a:srgbClr val="272424"/>
                </a:solidFill>
                <a:latin typeface="Tahoma"/>
                <a:cs typeface="Tahoma"/>
              </a:rPr>
              <a:t>Train</a:t>
            </a:r>
            <a:r>
              <a:rPr dirty="0" sz="1400" spc="-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204" b="1">
                <a:solidFill>
                  <a:srgbClr val="272424"/>
                </a:solidFill>
                <a:latin typeface="Tahoma"/>
                <a:cs typeface="Tahoma"/>
              </a:rPr>
              <a:t>&amp;</a:t>
            </a:r>
            <a:r>
              <a:rPr dirty="0" sz="140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272424"/>
                </a:solidFill>
                <a:latin typeface="Tahoma"/>
                <a:cs typeface="Tahoma"/>
              </a:rPr>
              <a:t>Go</a:t>
            </a:r>
            <a:r>
              <a:rPr dirty="0" sz="1400" spc="-1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272424"/>
                </a:solidFill>
                <a:latin typeface="Tahoma"/>
                <a:cs typeface="Tahoma"/>
              </a:rPr>
              <a:t>Live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13799"/>
              </a:lnSpc>
              <a:spcBef>
                <a:spcPts val="675"/>
              </a:spcBef>
            </a:pPr>
            <a:r>
              <a:rPr dirty="0" sz="1100" spc="65">
                <a:solidFill>
                  <a:srgbClr val="272424"/>
                </a:solidFill>
                <a:latin typeface="Tahoma"/>
                <a:cs typeface="Tahoma"/>
              </a:rPr>
              <a:t>Kick</a:t>
            </a:r>
            <a:r>
              <a:rPr dirty="0" sz="11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off</a:t>
            </a:r>
            <a:r>
              <a:rPr dirty="0" sz="11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model</a:t>
            </a:r>
            <a:r>
              <a:rPr dirty="0" sz="11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training</a:t>
            </a:r>
            <a:r>
              <a:rPr dirty="0" sz="110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from the</a:t>
            </a:r>
            <a:r>
              <a:rPr dirty="0" sz="110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dashboard.</a:t>
            </a:r>
            <a:r>
              <a:rPr dirty="0" sz="110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272424"/>
                </a:solidFill>
                <a:latin typeface="Tahoma"/>
                <a:cs typeface="Tahoma"/>
              </a:rPr>
              <a:t>Once</a:t>
            </a:r>
            <a:r>
              <a:rPr dirty="0" sz="11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complete,</a:t>
            </a:r>
            <a:r>
              <a:rPr dirty="0" sz="1100" spc="-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the API</a:t>
            </a:r>
            <a:r>
              <a:rPr dirty="0" sz="110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272424"/>
                </a:solidFill>
                <a:latin typeface="Tahoma"/>
                <a:cs typeface="Tahoma"/>
              </a:rPr>
              <a:t>is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live</a:t>
            </a:r>
            <a:r>
              <a:rPr dirty="0" sz="1100" spc="1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100" spc="1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272424"/>
                </a:solidFill>
                <a:latin typeface="Tahoma"/>
                <a:cs typeface="Tahoma"/>
              </a:rPr>
              <a:t>serving</a:t>
            </a:r>
            <a:r>
              <a:rPr dirty="0" sz="1100" spc="9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real-time</a:t>
            </a:r>
            <a:r>
              <a:rPr dirty="0" sz="1100" spc="8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100" spc="1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272424"/>
                </a:solidFill>
                <a:latin typeface="Tahoma"/>
                <a:cs typeface="Tahoma"/>
              </a:rPr>
              <a:t>scores.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497064" y="2145283"/>
            <a:ext cx="4754245" cy="1380490"/>
            <a:chOff x="7497064" y="2145283"/>
            <a:chExt cx="4754245" cy="1380490"/>
          </a:xfrm>
        </p:grpSpPr>
        <p:sp>
          <p:nvSpPr>
            <p:cNvPr id="28" name="object 28" descr=""/>
            <p:cNvSpPr/>
            <p:nvPr/>
          </p:nvSpPr>
          <p:spPr>
            <a:xfrm>
              <a:off x="7497064" y="2145283"/>
              <a:ext cx="4754245" cy="1380490"/>
            </a:xfrm>
            <a:custGeom>
              <a:avLst/>
              <a:gdLst/>
              <a:ahLst/>
              <a:cxnLst/>
              <a:rect l="l" t="t" r="r" b="b"/>
              <a:pathLst>
                <a:path w="4754245" h="1380489">
                  <a:moveTo>
                    <a:pt x="4693792" y="0"/>
                  </a:moveTo>
                  <a:lnTo>
                    <a:pt x="59943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3"/>
                  </a:lnTo>
                  <a:lnTo>
                    <a:pt x="0" y="1320545"/>
                  </a:lnTo>
                  <a:lnTo>
                    <a:pt x="4704" y="1343896"/>
                  </a:lnTo>
                  <a:lnTo>
                    <a:pt x="17541" y="1362948"/>
                  </a:lnTo>
                  <a:lnTo>
                    <a:pt x="36593" y="1375785"/>
                  </a:lnTo>
                  <a:lnTo>
                    <a:pt x="59943" y="1380489"/>
                  </a:lnTo>
                  <a:lnTo>
                    <a:pt x="4693792" y="1380489"/>
                  </a:lnTo>
                  <a:lnTo>
                    <a:pt x="4717143" y="1375785"/>
                  </a:lnTo>
                  <a:lnTo>
                    <a:pt x="4736195" y="1362948"/>
                  </a:lnTo>
                  <a:lnTo>
                    <a:pt x="4749032" y="1343896"/>
                  </a:lnTo>
                  <a:lnTo>
                    <a:pt x="4753736" y="1320545"/>
                  </a:lnTo>
                  <a:lnTo>
                    <a:pt x="4753736" y="59943"/>
                  </a:lnTo>
                  <a:lnTo>
                    <a:pt x="4749032" y="36593"/>
                  </a:lnTo>
                  <a:lnTo>
                    <a:pt x="4736195" y="17541"/>
                  </a:lnTo>
                  <a:lnTo>
                    <a:pt x="4717143" y="4704"/>
                  </a:lnTo>
                  <a:lnTo>
                    <a:pt x="4693792" y="0"/>
                  </a:lnTo>
                  <a:close/>
                </a:path>
              </a:pathLst>
            </a:custGeom>
            <a:solidFill>
              <a:srgbClr val="C6C8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9812" y="2289771"/>
              <a:ext cx="223126" cy="178473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7993760" y="2252599"/>
            <a:ext cx="11328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latin typeface="Tahoma"/>
                <a:cs typeface="Tahoma"/>
              </a:rPr>
              <a:t>Prerequisites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993760" y="2552547"/>
            <a:ext cx="2681605" cy="7874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80"/>
              </a:spcBef>
              <a:buChar char="•"/>
              <a:tabLst>
                <a:tab pos="354965" algn="l"/>
              </a:tabLst>
            </a:pPr>
            <a:r>
              <a:rPr dirty="0" sz="1100" spc="55">
                <a:latin typeface="Tahoma"/>
                <a:cs typeface="Tahoma"/>
              </a:rPr>
              <a:t>Docker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50">
                <a:latin typeface="Tahoma"/>
                <a:cs typeface="Tahoma"/>
              </a:rPr>
              <a:t>Desktop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4.x or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higher</a:t>
            </a:r>
            <a:endParaRPr sz="1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80"/>
              </a:spcBef>
              <a:buChar char="•"/>
              <a:tabLst>
                <a:tab pos="354965" algn="l"/>
              </a:tabLst>
            </a:pPr>
            <a:r>
              <a:rPr dirty="0" sz="1100">
                <a:latin typeface="Tahoma"/>
                <a:cs typeface="Tahoma"/>
              </a:rPr>
              <a:t>Python</a:t>
            </a:r>
            <a:r>
              <a:rPr dirty="0" sz="1100" spc="10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3.10+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(for</a:t>
            </a:r>
            <a:r>
              <a:rPr dirty="0" sz="1100" spc="11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local</a:t>
            </a:r>
            <a:r>
              <a:rPr dirty="0" sz="1100" spc="9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dev)</a:t>
            </a:r>
            <a:endParaRPr sz="1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80"/>
              </a:spcBef>
              <a:buChar char="•"/>
              <a:tabLst>
                <a:tab pos="354965" algn="l"/>
              </a:tabLst>
            </a:pPr>
            <a:r>
              <a:rPr dirty="0" sz="1100">
                <a:latin typeface="Tahoma"/>
                <a:cs typeface="Tahoma"/>
              </a:rPr>
              <a:t>Node.js</a:t>
            </a:r>
            <a:r>
              <a:rPr dirty="0" sz="1100" spc="9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18+</a:t>
            </a:r>
            <a:r>
              <a:rPr dirty="0" sz="1100" spc="1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(for</a:t>
            </a:r>
            <a:r>
              <a:rPr dirty="0" sz="1100" spc="1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frontend</a:t>
            </a:r>
            <a:r>
              <a:rPr dirty="0" sz="1100" spc="1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dev)</a:t>
            </a:r>
            <a:endParaRPr sz="1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80"/>
              </a:spcBef>
              <a:buChar char="•"/>
              <a:tabLst>
                <a:tab pos="354965" algn="l"/>
              </a:tabLst>
            </a:pPr>
            <a:r>
              <a:rPr dirty="0" sz="1100" spc="75">
                <a:latin typeface="Tahoma"/>
                <a:cs typeface="Tahoma"/>
              </a:rPr>
              <a:t>8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75">
                <a:latin typeface="Tahoma"/>
                <a:cs typeface="Tahoma"/>
              </a:rPr>
              <a:t>GB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85">
                <a:latin typeface="Tahoma"/>
                <a:cs typeface="Tahoma"/>
              </a:rPr>
              <a:t>RAM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minimum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40">
                <a:latin typeface="Tahoma"/>
                <a:cs typeface="Tahoma"/>
              </a:rPr>
              <a:t>recommended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485126" y="3595852"/>
            <a:ext cx="3735704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Full</a:t>
            </a:r>
            <a:r>
              <a:rPr dirty="0" sz="110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documentation and</a:t>
            </a:r>
            <a:r>
              <a:rPr dirty="0" sz="11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dirty="0" sz="110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72424"/>
                </a:solidFill>
                <a:latin typeface="Tahoma"/>
                <a:cs typeface="Tahoma"/>
              </a:rPr>
              <a:t>sample</a:t>
            </a:r>
            <a:r>
              <a:rPr dirty="0" sz="11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dataset</a:t>
            </a:r>
            <a:r>
              <a:rPr dirty="0" sz="110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dirty="0" sz="110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272424"/>
                </a:solidFill>
                <a:latin typeface="Tahoma"/>
                <a:cs typeface="Tahoma"/>
              </a:rPr>
              <a:t>included</a:t>
            </a:r>
            <a:r>
              <a:rPr dirty="0" sz="110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72424"/>
                </a:solidFill>
                <a:latin typeface="Tahoma"/>
                <a:cs typeface="Tahoma"/>
              </a:rPr>
              <a:t>in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your</a:t>
            </a:r>
            <a:r>
              <a:rPr dirty="0" sz="1100" spc="16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dirty="0" sz="1100" spc="1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onboard</a:t>
            </a:r>
            <a:r>
              <a:rPr dirty="0" sz="1100" spc="17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72424"/>
                </a:solidFill>
                <a:latin typeface="Tahoma"/>
                <a:cs typeface="Tahoma"/>
              </a:rPr>
              <a:t>quickly.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1247628" y="3634485"/>
            <a:ext cx="398780" cy="1727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95"/>
              </a:lnSpc>
            </a:pPr>
            <a:r>
              <a:rPr dirty="0" sz="1100" spc="-10">
                <a:solidFill>
                  <a:srgbClr val="272424"/>
                </a:solidFill>
                <a:latin typeface="Consolas"/>
                <a:cs typeface="Consolas"/>
              </a:rPr>
              <a:t>/docs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1661140" y="3618102"/>
            <a:ext cx="4762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100" spc="-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72424"/>
                </a:solidFill>
                <a:latin typeface="Tahoma"/>
                <a:cs typeface="Tahoma"/>
              </a:rPr>
              <a:t>help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9248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dirty="0" spc="-170"/>
              <a:t>Ready</a:t>
            </a:r>
            <a:r>
              <a:rPr dirty="0" spc="-275"/>
              <a:t> </a:t>
            </a:r>
            <a:r>
              <a:rPr dirty="0" spc="-350"/>
              <a:t>to</a:t>
            </a:r>
            <a:r>
              <a:rPr dirty="0" spc="-95"/>
              <a:t> </a:t>
            </a:r>
            <a:r>
              <a:rPr dirty="0" spc="-130"/>
              <a:t>Deploy.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304" y="2541320"/>
            <a:ext cx="7418705" cy="113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8300"/>
              </a:lnSpc>
              <a:spcBef>
                <a:spcPts val="100"/>
              </a:spcBef>
            </a:pP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dirty="0" sz="1750" spc="-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750" spc="-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05">
                <a:solidFill>
                  <a:srgbClr val="272424"/>
                </a:solidFill>
                <a:latin typeface="Tahoma"/>
                <a:cs typeface="Tahoma"/>
              </a:rPr>
              <a:t>Science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&amp;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60">
                <a:solidFill>
                  <a:srgbClr val="272424"/>
                </a:solidFill>
                <a:latin typeface="Tahoma"/>
                <a:cs typeface="Tahoma"/>
              </a:rPr>
              <a:t>ML</a:t>
            </a:r>
            <a:r>
              <a:rPr dirty="0" sz="17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Platform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dirty="0" sz="1750" spc="-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production-ready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55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dirty="0" sz="1750" spc="-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containerised, 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monitored,</a:t>
            </a:r>
            <a:r>
              <a:rPr dirty="0" sz="17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7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built</a:t>
            </a:r>
            <a:r>
              <a:rPr dirty="0" sz="1750" spc="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7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272424"/>
                </a:solidFill>
                <a:latin typeface="Tahoma"/>
                <a:cs typeface="Tahoma"/>
              </a:rPr>
              <a:t>scale</a:t>
            </a:r>
            <a:r>
              <a:rPr dirty="0" sz="17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your</a:t>
            </a:r>
            <a:r>
              <a:rPr dirty="0" sz="1750" spc="1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dirty="0" sz="17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base.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Start</a:t>
            </a:r>
            <a:r>
              <a:rPr dirty="0" sz="1750" spc="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predicting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750" spc="-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272424"/>
                </a:solidFill>
                <a:latin typeface="Tahoma"/>
                <a:cs typeface="Tahoma"/>
              </a:rPr>
              <a:t>before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05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you.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89978" y="3942334"/>
            <a:ext cx="7564120" cy="3007360"/>
            <a:chOff x="789978" y="3942334"/>
            <a:chExt cx="7564120" cy="3007360"/>
          </a:xfrm>
        </p:grpSpPr>
        <p:sp>
          <p:nvSpPr>
            <p:cNvPr id="6" name="object 6" descr=""/>
            <p:cNvSpPr/>
            <p:nvPr/>
          </p:nvSpPr>
          <p:spPr>
            <a:xfrm>
              <a:off x="793788" y="3946144"/>
              <a:ext cx="7556500" cy="2999740"/>
            </a:xfrm>
            <a:custGeom>
              <a:avLst/>
              <a:gdLst/>
              <a:ahLst/>
              <a:cxnLst/>
              <a:rect l="l" t="t" r="r" b="b"/>
              <a:pathLst>
                <a:path w="7556500" h="2999740">
                  <a:moveTo>
                    <a:pt x="7461211" y="0"/>
                  </a:moveTo>
                  <a:lnTo>
                    <a:pt x="95262" y="0"/>
                  </a:lnTo>
                  <a:lnTo>
                    <a:pt x="58185" y="7471"/>
                  </a:lnTo>
                  <a:lnTo>
                    <a:pt x="27905" y="27860"/>
                  </a:lnTo>
                  <a:lnTo>
                    <a:pt x="7487" y="58132"/>
                  </a:lnTo>
                  <a:lnTo>
                    <a:pt x="0" y="95250"/>
                  </a:lnTo>
                  <a:lnTo>
                    <a:pt x="0" y="2904362"/>
                  </a:lnTo>
                  <a:lnTo>
                    <a:pt x="7487" y="2941427"/>
                  </a:lnTo>
                  <a:lnTo>
                    <a:pt x="27905" y="2971704"/>
                  </a:lnTo>
                  <a:lnTo>
                    <a:pt x="58185" y="2992123"/>
                  </a:lnTo>
                  <a:lnTo>
                    <a:pt x="95262" y="2999612"/>
                  </a:lnTo>
                  <a:lnTo>
                    <a:pt x="7461211" y="2999612"/>
                  </a:lnTo>
                  <a:lnTo>
                    <a:pt x="7498276" y="2992123"/>
                  </a:lnTo>
                  <a:lnTo>
                    <a:pt x="7528553" y="2971704"/>
                  </a:lnTo>
                  <a:lnTo>
                    <a:pt x="7548972" y="2941427"/>
                  </a:lnTo>
                  <a:lnTo>
                    <a:pt x="7556461" y="2904362"/>
                  </a:lnTo>
                  <a:lnTo>
                    <a:pt x="7556461" y="95250"/>
                  </a:lnTo>
                  <a:lnTo>
                    <a:pt x="7548972" y="58132"/>
                  </a:lnTo>
                  <a:lnTo>
                    <a:pt x="7528553" y="27860"/>
                  </a:lnTo>
                  <a:lnTo>
                    <a:pt x="7498276" y="7471"/>
                  </a:lnTo>
                  <a:lnTo>
                    <a:pt x="7461211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93788" y="3946144"/>
              <a:ext cx="7556500" cy="2999740"/>
            </a:xfrm>
            <a:custGeom>
              <a:avLst/>
              <a:gdLst/>
              <a:ahLst/>
              <a:cxnLst/>
              <a:rect l="l" t="t" r="r" b="b"/>
              <a:pathLst>
                <a:path w="7556500" h="2999740">
                  <a:moveTo>
                    <a:pt x="0" y="95250"/>
                  </a:moveTo>
                  <a:lnTo>
                    <a:pt x="7487" y="58132"/>
                  </a:lnTo>
                  <a:lnTo>
                    <a:pt x="27905" y="27860"/>
                  </a:lnTo>
                  <a:lnTo>
                    <a:pt x="58185" y="7471"/>
                  </a:lnTo>
                  <a:lnTo>
                    <a:pt x="95262" y="0"/>
                  </a:lnTo>
                  <a:lnTo>
                    <a:pt x="7461211" y="0"/>
                  </a:lnTo>
                  <a:lnTo>
                    <a:pt x="7498276" y="7471"/>
                  </a:lnTo>
                  <a:lnTo>
                    <a:pt x="7528553" y="27860"/>
                  </a:lnTo>
                  <a:lnTo>
                    <a:pt x="7548972" y="58132"/>
                  </a:lnTo>
                  <a:lnTo>
                    <a:pt x="7556461" y="95250"/>
                  </a:lnTo>
                  <a:lnTo>
                    <a:pt x="7556461" y="2904362"/>
                  </a:lnTo>
                  <a:lnTo>
                    <a:pt x="7548972" y="2941427"/>
                  </a:lnTo>
                  <a:lnTo>
                    <a:pt x="7528553" y="2971704"/>
                  </a:lnTo>
                  <a:lnTo>
                    <a:pt x="7498276" y="2992123"/>
                  </a:lnTo>
                  <a:lnTo>
                    <a:pt x="7461211" y="2999612"/>
                  </a:lnTo>
                  <a:lnTo>
                    <a:pt x="95262" y="2999612"/>
                  </a:lnTo>
                  <a:lnTo>
                    <a:pt x="58185" y="2992123"/>
                  </a:lnTo>
                  <a:lnTo>
                    <a:pt x="27905" y="2971704"/>
                  </a:lnTo>
                  <a:lnTo>
                    <a:pt x="7487" y="2941427"/>
                  </a:lnTo>
                  <a:lnTo>
                    <a:pt x="0" y="2904362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01408" y="3953764"/>
              <a:ext cx="3770629" cy="1677670"/>
            </a:xfrm>
            <a:custGeom>
              <a:avLst/>
              <a:gdLst/>
              <a:ahLst/>
              <a:cxnLst/>
              <a:rect l="l" t="t" r="r" b="b"/>
              <a:pathLst>
                <a:path w="3770629" h="1677670">
                  <a:moveTo>
                    <a:pt x="3675341" y="0"/>
                  </a:moveTo>
                  <a:lnTo>
                    <a:pt x="95262" y="0"/>
                  </a:lnTo>
                  <a:lnTo>
                    <a:pt x="58180" y="7471"/>
                  </a:lnTo>
                  <a:lnTo>
                    <a:pt x="27900" y="27860"/>
                  </a:lnTo>
                  <a:lnTo>
                    <a:pt x="7485" y="58132"/>
                  </a:lnTo>
                  <a:lnTo>
                    <a:pt x="0" y="95250"/>
                  </a:lnTo>
                  <a:lnTo>
                    <a:pt x="0" y="1582166"/>
                  </a:lnTo>
                  <a:lnTo>
                    <a:pt x="7485" y="1619230"/>
                  </a:lnTo>
                  <a:lnTo>
                    <a:pt x="27900" y="1649507"/>
                  </a:lnTo>
                  <a:lnTo>
                    <a:pt x="58180" y="1669926"/>
                  </a:lnTo>
                  <a:lnTo>
                    <a:pt x="95262" y="1677416"/>
                  </a:lnTo>
                  <a:lnTo>
                    <a:pt x="3675341" y="1677416"/>
                  </a:lnTo>
                  <a:lnTo>
                    <a:pt x="3712406" y="1669926"/>
                  </a:lnTo>
                  <a:lnTo>
                    <a:pt x="3742683" y="1649507"/>
                  </a:lnTo>
                  <a:lnTo>
                    <a:pt x="3763102" y="1619230"/>
                  </a:lnTo>
                  <a:lnTo>
                    <a:pt x="3770591" y="1582166"/>
                  </a:lnTo>
                  <a:lnTo>
                    <a:pt x="3770591" y="95250"/>
                  </a:lnTo>
                  <a:lnTo>
                    <a:pt x="3763102" y="58132"/>
                  </a:lnTo>
                  <a:lnTo>
                    <a:pt x="3742683" y="27860"/>
                  </a:lnTo>
                  <a:lnTo>
                    <a:pt x="3712406" y="7471"/>
                  </a:lnTo>
                  <a:lnTo>
                    <a:pt x="3675341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535" y="4091940"/>
              <a:ext cx="713994" cy="587501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471422" y="4156024"/>
            <a:ext cx="187071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60" b="1">
                <a:solidFill>
                  <a:srgbClr val="272424"/>
                </a:solidFill>
                <a:latin typeface="Tahoma"/>
                <a:cs typeface="Tahoma"/>
              </a:rPr>
              <a:t>Deploy</a:t>
            </a:r>
            <a:r>
              <a:rPr dirty="0" sz="2200" spc="-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272424"/>
                </a:solidFill>
                <a:latin typeface="Tahoma"/>
                <a:cs typeface="Tahoma"/>
              </a:rPr>
              <a:t>Today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15695" y="4712589"/>
            <a:ext cx="45720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One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21967" y="4730369"/>
            <a:ext cx="1719580" cy="2743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60"/>
              </a:lnSpc>
            </a:pPr>
            <a:r>
              <a:rPr dirty="0" sz="1750" spc="-10">
                <a:solidFill>
                  <a:srgbClr val="272424"/>
                </a:solidFill>
                <a:latin typeface="Consolas"/>
                <a:cs typeface="Consolas"/>
              </a:rPr>
              <a:t>docker-compose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83458" y="4712589"/>
            <a:ext cx="106997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command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15695" y="5081397"/>
            <a:ext cx="143192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750" spc="1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production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572000" y="3953764"/>
            <a:ext cx="3770629" cy="1677670"/>
            <a:chOff x="4572000" y="3953764"/>
            <a:chExt cx="3770629" cy="1677670"/>
          </a:xfrm>
        </p:grpSpPr>
        <p:sp>
          <p:nvSpPr>
            <p:cNvPr id="16" name="object 16" descr=""/>
            <p:cNvSpPr/>
            <p:nvPr/>
          </p:nvSpPr>
          <p:spPr>
            <a:xfrm>
              <a:off x="4572000" y="3953764"/>
              <a:ext cx="3770629" cy="1677670"/>
            </a:xfrm>
            <a:custGeom>
              <a:avLst/>
              <a:gdLst/>
              <a:ahLst/>
              <a:cxnLst/>
              <a:rect l="l" t="t" r="r" b="b"/>
              <a:pathLst>
                <a:path w="3770629" h="1677670">
                  <a:moveTo>
                    <a:pt x="3770629" y="0"/>
                  </a:moveTo>
                  <a:lnTo>
                    <a:pt x="0" y="0"/>
                  </a:lnTo>
                  <a:lnTo>
                    <a:pt x="0" y="1677416"/>
                  </a:lnTo>
                  <a:lnTo>
                    <a:pt x="3770629" y="1677416"/>
                  </a:lnTo>
                  <a:lnTo>
                    <a:pt x="3770629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572000" y="3953764"/>
              <a:ext cx="30480" cy="1677670"/>
            </a:xfrm>
            <a:custGeom>
              <a:avLst/>
              <a:gdLst/>
              <a:ahLst/>
              <a:cxnLst/>
              <a:rect l="l" t="t" r="r" b="b"/>
              <a:pathLst>
                <a:path w="30479" h="1677670">
                  <a:moveTo>
                    <a:pt x="23622" y="0"/>
                  </a:moveTo>
                  <a:lnTo>
                    <a:pt x="6858" y="0"/>
                  </a:lnTo>
                  <a:lnTo>
                    <a:pt x="0" y="6731"/>
                  </a:lnTo>
                  <a:lnTo>
                    <a:pt x="0" y="15239"/>
                  </a:lnTo>
                  <a:lnTo>
                    <a:pt x="0" y="1670558"/>
                  </a:lnTo>
                  <a:lnTo>
                    <a:pt x="6858" y="1677416"/>
                  </a:lnTo>
                  <a:lnTo>
                    <a:pt x="23622" y="1677416"/>
                  </a:lnTo>
                  <a:lnTo>
                    <a:pt x="30479" y="1670558"/>
                  </a:lnTo>
                  <a:lnTo>
                    <a:pt x="30479" y="6731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9911" y="4091940"/>
              <a:ext cx="713993" cy="587501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4786629" y="4156024"/>
            <a:ext cx="3275329" cy="1217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7995">
              <a:lnSpc>
                <a:spcPct val="100000"/>
              </a:lnSpc>
              <a:spcBef>
                <a:spcPts val="95"/>
              </a:spcBef>
            </a:pPr>
            <a:r>
              <a:rPr dirty="0" sz="2200" spc="-160" b="1">
                <a:solidFill>
                  <a:srgbClr val="272424"/>
                </a:solidFill>
                <a:latin typeface="Tahoma"/>
                <a:cs typeface="Tahoma"/>
              </a:rPr>
              <a:t>Immediate</a:t>
            </a:r>
            <a:r>
              <a:rPr dirty="0" sz="2200" spc="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272424"/>
                </a:solidFill>
                <a:latin typeface="Tahoma"/>
                <a:cs typeface="Tahoma"/>
              </a:rPr>
              <a:t>Insights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4"/>
              </a:spcBef>
            </a:pP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First</a:t>
            </a:r>
            <a:r>
              <a:rPr dirty="0" sz="17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272424"/>
                </a:solidFill>
                <a:latin typeface="Tahoma"/>
                <a:cs typeface="Tahoma"/>
              </a:rPr>
              <a:t>churn</a:t>
            </a:r>
            <a:r>
              <a:rPr dirty="0" sz="17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110">
                <a:solidFill>
                  <a:srgbClr val="272424"/>
                </a:solidFill>
                <a:latin typeface="Tahoma"/>
                <a:cs typeface="Tahoma"/>
              </a:rPr>
              <a:t>scores</a:t>
            </a:r>
            <a:r>
              <a:rPr dirty="0" sz="17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within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272424"/>
                </a:solidFill>
                <a:latin typeface="Tahoma"/>
                <a:cs typeface="Tahoma"/>
              </a:rPr>
              <a:t>hours </a:t>
            </a:r>
            <a:r>
              <a:rPr dirty="0" sz="1750" spc="85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750" spc="-5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dirty="0" sz="1750" spc="-4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55">
                <a:solidFill>
                  <a:srgbClr val="272424"/>
                </a:solidFill>
                <a:latin typeface="Tahoma"/>
                <a:cs typeface="Tahoma"/>
              </a:rPr>
              <a:t>ingestion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01408" y="5631179"/>
            <a:ext cx="7541259" cy="1307465"/>
            <a:chOff x="801408" y="5631179"/>
            <a:chExt cx="7541259" cy="1307465"/>
          </a:xfrm>
        </p:grpSpPr>
        <p:sp>
          <p:nvSpPr>
            <p:cNvPr id="21" name="object 21" descr=""/>
            <p:cNvSpPr/>
            <p:nvPr/>
          </p:nvSpPr>
          <p:spPr>
            <a:xfrm>
              <a:off x="801408" y="5631179"/>
              <a:ext cx="7541259" cy="1307465"/>
            </a:xfrm>
            <a:custGeom>
              <a:avLst/>
              <a:gdLst/>
              <a:ahLst/>
              <a:cxnLst/>
              <a:rect l="l" t="t" r="r" b="b"/>
              <a:pathLst>
                <a:path w="7541259" h="1307465">
                  <a:moveTo>
                    <a:pt x="7541133" y="0"/>
                  </a:moveTo>
                  <a:lnTo>
                    <a:pt x="0" y="0"/>
                  </a:lnTo>
                  <a:lnTo>
                    <a:pt x="0" y="1306957"/>
                  </a:lnTo>
                  <a:lnTo>
                    <a:pt x="7541133" y="1306957"/>
                  </a:lnTo>
                  <a:lnTo>
                    <a:pt x="7541133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01408" y="5631179"/>
              <a:ext cx="7541259" cy="30480"/>
            </a:xfrm>
            <a:custGeom>
              <a:avLst/>
              <a:gdLst/>
              <a:ahLst/>
              <a:cxnLst/>
              <a:rect l="l" t="t" r="r" b="b"/>
              <a:pathLst>
                <a:path w="7541259" h="30479">
                  <a:moveTo>
                    <a:pt x="7534363" y="0"/>
                  </a:moveTo>
                  <a:lnTo>
                    <a:pt x="6819" y="0"/>
                  </a:lnTo>
                  <a:lnTo>
                    <a:pt x="0" y="6858"/>
                  </a:lnTo>
                  <a:lnTo>
                    <a:pt x="0" y="15240"/>
                  </a:lnTo>
                  <a:lnTo>
                    <a:pt x="0" y="23622"/>
                  </a:lnTo>
                  <a:lnTo>
                    <a:pt x="6819" y="30480"/>
                  </a:lnTo>
                  <a:lnTo>
                    <a:pt x="7534363" y="30480"/>
                  </a:lnTo>
                  <a:lnTo>
                    <a:pt x="7541221" y="23622"/>
                  </a:lnTo>
                  <a:lnTo>
                    <a:pt x="7541221" y="6858"/>
                  </a:lnTo>
                  <a:lnTo>
                    <a:pt x="7534363" y="0"/>
                  </a:lnTo>
                  <a:close/>
                </a:path>
              </a:pathLst>
            </a:custGeom>
            <a:solidFill>
              <a:srgbClr val="C0C1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536" y="5768339"/>
              <a:ext cx="713994" cy="587501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015695" y="5834253"/>
            <a:ext cx="5474970" cy="8489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7995">
              <a:lnSpc>
                <a:spcPct val="100000"/>
              </a:lnSpc>
              <a:spcBef>
                <a:spcPts val="95"/>
              </a:spcBef>
            </a:pPr>
            <a:r>
              <a:rPr dirty="0" sz="2200" spc="-60" b="1">
                <a:solidFill>
                  <a:srgbClr val="272424"/>
                </a:solidFill>
                <a:latin typeface="Tahoma"/>
                <a:cs typeface="Tahoma"/>
              </a:rPr>
              <a:t>Always</a:t>
            </a:r>
            <a:r>
              <a:rPr dirty="0" sz="2200" spc="-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2200" spc="-25" b="1">
                <a:solidFill>
                  <a:srgbClr val="272424"/>
                </a:solidFill>
                <a:latin typeface="Tahoma"/>
                <a:cs typeface="Tahoma"/>
              </a:rPr>
              <a:t>Improving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1750" spc="60">
                <a:solidFill>
                  <a:srgbClr val="272424"/>
                </a:solidFill>
                <a:latin typeface="Tahoma"/>
                <a:cs typeface="Tahoma"/>
              </a:rPr>
              <a:t>Automated</a:t>
            </a:r>
            <a:r>
              <a:rPr dirty="0" sz="17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272424"/>
                </a:solidFill>
                <a:latin typeface="Tahoma"/>
                <a:cs typeface="Tahoma"/>
              </a:rPr>
              <a:t>retraining</a:t>
            </a:r>
            <a:r>
              <a:rPr dirty="0" sz="1750" spc="4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272424"/>
                </a:solidFill>
                <a:latin typeface="Tahoma"/>
                <a:cs typeface="Tahoma"/>
              </a:rPr>
              <a:t>keeps</a:t>
            </a:r>
            <a:r>
              <a:rPr dirty="0" sz="1750" spc="3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models</a:t>
            </a:r>
            <a:r>
              <a:rPr dirty="0" sz="1750" spc="3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sharp</a:t>
            </a:r>
            <a:r>
              <a:rPr dirty="0" sz="1750" spc="25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80">
                <a:solidFill>
                  <a:srgbClr val="272424"/>
                </a:solidFill>
                <a:latin typeface="Tahoma"/>
                <a:cs typeface="Tahoma"/>
              </a:rPr>
              <a:t>over</a:t>
            </a:r>
            <a:r>
              <a:rPr dirty="0" sz="1750" spc="2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2026-04-06T18:15:00Z</dcterms:created>
  <dcterms:modified xsi:type="dcterms:W3CDTF">2026-04-06T18:15:00Z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2026-04-06T00:00:00Z</vt:filetime>
  </property>
  <property fmtid="{D5CDD505-2E9C-101B-9397-08002B2CF9AE}" pid="5" name="Producer">
    <vt:lpwstr>Microsoft® PowerPoint® 2021</vt:lpwstr>
  </property>
</Properties>
</file>